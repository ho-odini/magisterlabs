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80" r:id="rId2"/>
    <p:sldId id="273" r:id="rId3"/>
    <p:sldId id="274" r:id="rId4"/>
    <p:sldId id="281" r:id="rId5"/>
    <p:sldId id="282" r:id="rId6"/>
    <p:sldId id="277" r:id="rId7"/>
    <p:sldId id="278" r:id="rId8"/>
    <p:sldId id="279" r:id="rId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boto" panose="020B0604020202020204" charset="0"/>
      <p:regular r:id="rId15"/>
      <p:bold r:id="rId16"/>
      <p:italic r:id="rId17"/>
      <p:boldItalic r:id="rId18"/>
    </p:embeddedFont>
    <p:embeddedFont>
      <p:font typeface="Bahnschrift" panose="020B0502040204020203" pitchFamily="34" charset="0"/>
      <p:regular r:id="rId19"/>
      <p:bold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517" userDrawn="1">
          <p15:clr>
            <a:srgbClr val="A4A3A4"/>
          </p15:clr>
        </p15:guide>
        <p15:guide id="3" pos="249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5" orient="horz" pos="299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7D42F8-4E86-10F8-7062-6A8B1A5CAD9E}" name="Павел Фатьянов" initials="ПФ" userId="35cf70301ae7135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1C33"/>
    <a:srgbClr val="4F81BD"/>
    <a:srgbClr val="CC0000"/>
    <a:srgbClr val="0F8259"/>
    <a:srgbClr val="BD0040"/>
    <a:srgbClr val="920000"/>
    <a:srgbClr val="0C5C2C"/>
    <a:srgbClr val="A50021"/>
    <a:srgbClr val="A22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8" autoAdjust="0"/>
  </p:normalViewPr>
  <p:slideViewPr>
    <p:cSldViewPr>
      <p:cViewPr varScale="1">
        <p:scale>
          <a:sx n="104" d="100"/>
          <a:sy n="104" d="100"/>
        </p:scale>
        <p:origin x="878" y="58"/>
      </p:cViewPr>
      <p:guideLst>
        <p:guide orient="horz" pos="1620"/>
        <p:guide pos="2517"/>
        <p:guide pos="249"/>
        <p:guide orient="horz" pos="259"/>
        <p:guide orient="horz" pos="29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EEB8F-F394-42F5-9650-2EDD3D430F7F}" type="datetimeFigureOut">
              <a:rPr lang="ru-RU" smtClean="0"/>
              <a:pPr/>
              <a:t>06.06.2025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186AA-97E8-4BC6-880E-337DD9C7C5A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1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9"/>
          <p:cNvSpPr>
            <a:spLocks noGrp="1"/>
          </p:cNvSpPr>
          <p:nvPr>
            <p:ph type="body" sz="quarter" idx="10"/>
          </p:nvPr>
        </p:nvSpPr>
        <p:spPr>
          <a:xfrm>
            <a:off x="467544" y="357172"/>
            <a:ext cx="5857894" cy="914400"/>
          </a:xfrm>
          <a:prstGeom prst="rect">
            <a:avLst/>
          </a:prstGeom>
        </p:spPr>
        <p:txBody>
          <a:bodyPr/>
          <a:lstStyle>
            <a:lvl1pPr marL="88900" indent="-88900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2925" indent="-85725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73025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20825" indent="-88900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85950" indent="-88900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4714890"/>
            <a:ext cx="9144000" cy="428628"/>
          </a:xfrm>
          <a:prstGeom prst="rect">
            <a:avLst/>
          </a:prstGeom>
          <a:solidFill>
            <a:srgbClr val="781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8215338" y="4857768"/>
            <a:ext cx="857256" cy="1428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www.nstu.ru</a:t>
            </a:r>
            <a:endParaRPr lang="ru-RU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838085"/>
            <a:ext cx="607118" cy="1958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5"/>
        </a:buBlip>
        <a:defRPr sz="20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4659982"/>
            <a:ext cx="9144000" cy="483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5143504" y="0"/>
            <a:ext cx="4000496" cy="214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143504" y="4714890"/>
            <a:ext cx="4000496" cy="428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3140295" y="426724"/>
            <a:ext cx="5669832" cy="868303"/>
          </a:xfrm>
          <a:prstGeom prst="rect">
            <a:avLst/>
          </a:prstGeom>
        </p:spPr>
        <p:txBody>
          <a:bodyPr vert="horz" lIns="0" tIns="0" rIns="0" bIns="0" rtlCol="0" anchor="t">
            <a:normAutofit fontScale="97500"/>
          </a:bodyPr>
          <a:lstStyle/>
          <a:p>
            <a:pPr algn="ctr">
              <a:spcBef>
                <a:spcPct val="0"/>
              </a:spcBef>
              <a:tabLst>
                <a:tab pos="3048000" algn="l"/>
              </a:tabLst>
              <a:defRPr/>
            </a:pPr>
            <a:r>
              <a:rPr lang="ru-RU" b="1" dirty="0" smtClean="0"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РАСЧЕТНО-ГРАФИЧЕСКАЯ РАБОТА</a:t>
            </a:r>
            <a:endParaRPr lang="ru-RU" b="1" dirty="0" smtClean="0">
              <a:latin typeface="Arial" panose="020B0604020202020204" pitchFamily="34" charset="0"/>
              <a:ea typeface="Stem Text Bold" pitchFamily="34" charset="-52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184" y="2025948"/>
            <a:ext cx="8139256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3200" b="1" dirty="0">
                <a:solidFill>
                  <a:srgbClr val="781C33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Моделирование систем массового обслуживания</a:t>
            </a:r>
            <a:endParaRPr lang="ru-RU" sz="3200" b="1" dirty="0">
              <a:solidFill>
                <a:srgbClr val="781C33"/>
              </a:solidFill>
              <a:latin typeface="Arial" panose="020B0604020202020204" pitchFamily="34" charset="0"/>
              <a:ea typeface="Stem Text Bold" pitchFamily="34" charset="-52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84" y="414493"/>
            <a:ext cx="2020531" cy="6527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8444" y="1209025"/>
            <a:ext cx="260938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i="1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Кафедра вычислительной техники</a:t>
            </a:r>
            <a:endParaRPr lang="ru-RU" sz="1200" i="1" dirty="0">
              <a:latin typeface="Arial" panose="020B0604020202020204" pitchFamily="34" charset="0"/>
              <a:ea typeface="Stem Text" pitchFamily="34" charset="-52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8444" y="4200868"/>
            <a:ext cx="304142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600" b="1" dirty="0" err="1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Ириков</a:t>
            </a:r>
            <a:r>
              <a:rPr lang="ru-RU" sz="1600" b="1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 Евгений Алексеевич</a:t>
            </a:r>
            <a: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/>
            </a:r>
            <a:b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</a:br>
            <a: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Магистрант группы АММ2-24</a:t>
            </a:r>
            <a:endParaRPr lang="ru-RU" sz="1600" dirty="0">
              <a:latin typeface="Arial" panose="020B0604020202020204" pitchFamily="34" charset="0"/>
              <a:ea typeface="Stem Text" pitchFamily="34" charset="-52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2040" y="4200868"/>
            <a:ext cx="400049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600" b="1" dirty="0" err="1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Альсова</a:t>
            </a:r>
            <a:r>
              <a:rPr lang="ru-RU" sz="1600" b="1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 Ольга Константиновна</a:t>
            </a:r>
          </a:p>
          <a:p>
            <a: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к.т.н</a:t>
            </a:r>
            <a:r>
              <a:rPr lang="ru-RU" sz="1600" dirty="0" smtClean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., </a:t>
            </a:r>
            <a:r>
              <a:rPr lang="ru-RU" sz="1600" dirty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доцент, </a:t>
            </a:r>
            <a:r>
              <a:rPr lang="ru-RU" sz="1600" dirty="0" err="1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к.т.н</a:t>
            </a:r>
            <a:endParaRPr lang="ru-RU" sz="1600" dirty="0">
              <a:latin typeface="Arial" panose="020B0604020202020204" pitchFamily="34" charset="0"/>
              <a:ea typeface="Stem Text" pitchFamily="34" charset="-5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33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07504" y="195486"/>
            <a:ext cx="349188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Постановка задачи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9FC7E-EEE9-FB7A-534D-57B5082F5A08}"/>
              </a:ext>
            </a:extLst>
          </p:cNvPr>
          <p:cNvSpPr txBox="1"/>
          <p:nvPr/>
        </p:nvSpPr>
        <p:spPr>
          <a:xfrm>
            <a:off x="4030619" y="474709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2EFBC-CBBF-401D-81D4-DB38C1CE95F6}"/>
              </a:ext>
            </a:extLst>
          </p:cNvPr>
          <p:cNvSpPr txBox="1">
            <a:spLocks/>
          </p:cNvSpPr>
          <p:nvPr/>
        </p:nvSpPr>
        <p:spPr>
          <a:xfrm>
            <a:off x="179512" y="661368"/>
            <a:ext cx="6984776" cy="455406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Stem Text" pitchFamily="34" charset="-52"/>
                <a:ea typeface="Stem Text" pitchFamily="34" charset="-5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tem Text" pitchFamily="34" charset="-52"/>
                <a:ea typeface="Stem Text" pitchFamily="34" charset="-5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tem Text" pitchFamily="34" charset="-52"/>
                <a:ea typeface="Stem Text" pitchFamily="34" charset="-5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tem Text" pitchFamily="34" charset="-52"/>
                <a:ea typeface="Stem Text" pitchFamily="34" charset="-5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tem Text" pitchFamily="34" charset="-52"/>
                <a:ea typeface="Stem Text" pitchFamily="34" charset="-5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50000"/>
              </a:lnSpc>
              <a:buNone/>
            </a:pPr>
            <a:endParaRPr lang="ru-RU" sz="1000" dirty="0">
              <a:solidFill>
                <a:schemeClr val="tx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467544" y="1023288"/>
            <a:ext cx="7200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Вариант </a:t>
            </a:r>
            <a:r>
              <a:rPr lang="ru-RU" sz="14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16. </a:t>
            </a:r>
            <a:r>
              <a:rPr lang="ru-RU" sz="1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магазине работают пять продавцов. Интенсивность работы продавцов по обслуживанию покупателей μ=0,1 (человек в минуту). Покупатели заходят в магазин с интенсивностью λ =0,2 (человек в минуту). Все потоки, протекающие в системе, простейшие пуассоновские. При имитационном моделировании задайте время работы системы равным 640 часам (80 рабочих дней).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Дополнительные условия: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если </a:t>
            </a:r>
            <a:r>
              <a:rPr lang="ru-RU" sz="1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очереди 2 покупателя, то вновь вошедший покупатель покидает магазин;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интенсивность </a:t>
            </a:r>
            <a:r>
              <a:rPr lang="ru-RU" sz="1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работы продавцов меняется на протяжении 8-ми часового рабочего дня: через 2 часа после начала работы интенсивность работы падает на 10%, через 4 часа – на 20%, через 6 часов – на 25%.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33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8739" y="260314"/>
            <a:ext cx="349188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Аналитический метод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611560" y="910049"/>
            <a:ext cx="396044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ru-RU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СМО </a:t>
            </a:r>
            <a:r>
              <a:rPr lang="ru-RU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без дополнительных условий</a:t>
            </a:r>
            <a:r>
              <a:rPr lang="en-US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9FC7E-EEE9-FB7A-534D-57B5082F5A08}"/>
              </a:ext>
            </a:extLst>
          </p:cNvPr>
          <p:cNvSpPr txBox="1"/>
          <p:nvPr/>
        </p:nvSpPr>
        <p:spPr>
          <a:xfrm>
            <a:off x="4030619" y="474709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508949" y="1707654"/>
            <a:ext cx="4165662" cy="2016224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580112" y="913072"/>
            <a:ext cx="396044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ru-RU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СМО с ограничениями</a:t>
            </a:r>
            <a:r>
              <a:rPr lang="en-US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4932040" y="1728371"/>
            <a:ext cx="4084682" cy="2618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620" y="339502"/>
            <a:ext cx="349188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Аналитический метод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9FC7E-EEE9-FB7A-534D-57B5082F5A08}"/>
              </a:ext>
            </a:extLst>
          </p:cNvPr>
          <p:cNvSpPr txBox="1"/>
          <p:nvPr/>
        </p:nvSpPr>
        <p:spPr>
          <a:xfrm>
            <a:off x="4030619" y="474709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 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20" y="1039997"/>
            <a:ext cx="8542760" cy="30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3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620" y="339502"/>
            <a:ext cx="349188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Аналитический метод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9FC7E-EEE9-FB7A-534D-57B5082F5A08}"/>
              </a:ext>
            </a:extLst>
          </p:cNvPr>
          <p:cNvSpPr txBox="1"/>
          <p:nvPr/>
        </p:nvSpPr>
        <p:spPr>
          <a:xfrm>
            <a:off x="4030619" y="474709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 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15566"/>
            <a:ext cx="8753247" cy="351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3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20" y="987574"/>
            <a:ext cx="5112568" cy="23614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512" y="267494"/>
            <a:ext cx="468052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Имитационное моделирование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5436096" y="1311320"/>
            <a:ext cx="3384376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Source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- Генерация 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клиентов</a:t>
            </a: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Queue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- Очередь на 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обслуживание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Seize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 Занять 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кассу</a:t>
            </a: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Delay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- Время </a:t>
            </a:r>
            <a:r>
              <a:rPr lang="ru-RU" sz="1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обслуживания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Release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 Освободить 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кассу</a:t>
            </a: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Sink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- Удаление из модели</a:t>
            </a: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ResourcePool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- 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Пять касс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467544" y="3579862"/>
            <a:ext cx="45365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Среднее время ожидания в очереди 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 0.11 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минуты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Среднее время заправки составляет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12.68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минут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9FC7E-EEE9-FB7A-534D-57B5082F5A08}"/>
              </a:ext>
            </a:extLst>
          </p:cNvPr>
          <p:cNvSpPr txBox="1"/>
          <p:nvPr/>
        </p:nvSpPr>
        <p:spPr>
          <a:xfrm>
            <a:off x="4030619" y="474709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3075806"/>
            <a:ext cx="3354418" cy="1264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hoto_2025-05-23_12-06-3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1" y="771550"/>
            <a:ext cx="5112567" cy="29523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512" y="267494"/>
            <a:ext cx="468052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Имитационное моделирование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2530" name="Picture 2" descr="D:\photo_2025-05-23_12-06-4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411510"/>
            <a:ext cx="2736304" cy="1896699"/>
          </a:xfrm>
          <a:prstGeom prst="rect">
            <a:avLst/>
          </a:prstGeom>
          <a:noFill/>
        </p:spPr>
      </p:pic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5436096" y="2776740"/>
            <a:ext cx="352839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21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мин - средняя время </a:t>
            </a:r>
            <a:r>
              <a:rPr lang="ru-RU" sz="12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нахождения в магазине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1.8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мин - среднее время ожидания в очереди,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0.21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 вероятность простоя системы изменяется, чем ближе к вечеру, тем значение будет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больше.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Из 1000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посетителей</a:t>
            </a:r>
            <a:r>
              <a:rPr kumimoji="0" lang="ru-RU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всего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10%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ушл</a:t>
            </a:r>
            <a:r>
              <a:rPr lang="ru-RU" sz="12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9FC7E-EEE9-FB7A-534D-57B5082F5A08}"/>
              </a:ext>
            </a:extLst>
          </p:cNvPr>
          <p:cNvSpPr txBox="1"/>
          <p:nvPr/>
        </p:nvSpPr>
        <p:spPr>
          <a:xfrm>
            <a:off x="4030619" y="474709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7704" y="1635646"/>
            <a:ext cx="5184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Спасибо за внимание!</a:t>
            </a:r>
            <a:endParaRPr lang="ru-RU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НГТУ НЭТИ Stem">
      <a:majorFont>
        <a:latin typeface="Stem Text Bold"/>
        <a:ea typeface=""/>
        <a:cs typeface=""/>
      </a:majorFont>
      <a:minorFont>
        <a:latin typeface="Stem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3491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2220</TotalTime>
  <Words>254</Words>
  <Application>Microsoft Office PowerPoint</Application>
  <PresentationFormat>Экран (16:9)</PresentationFormat>
  <Paragraphs>37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Arial</vt:lpstr>
      <vt:lpstr>Stem Text Bold</vt:lpstr>
      <vt:lpstr>Times New Roman</vt:lpstr>
      <vt:lpstr>Calibri</vt:lpstr>
      <vt:lpstr>Stem Text</vt:lpstr>
      <vt:lpstr>Roboto</vt:lpstr>
      <vt:lpstr>Bahnschrift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НГТУ НЭТИ 16:9</dc:title>
  <dc:creator>Валентин Кривица</dc:creator>
  <cp:lastModifiedBy>Саныч Сан</cp:lastModifiedBy>
  <cp:revision>257</cp:revision>
  <dcterms:created xsi:type="dcterms:W3CDTF">2019-05-10T11:12:43Z</dcterms:created>
  <dcterms:modified xsi:type="dcterms:W3CDTF">2025-06-06T04:21:03Z</dcterms:modified>
</cp:coreProperties>
</file>