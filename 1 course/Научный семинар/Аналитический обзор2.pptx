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70" r:id="rId7"/>
    <p:sldId id="262" r:id="rId8"/>
    <p:sldId id="269" r:id="rId9"/>
    <p:sldId id="263" r:id="rId10"/>
    <p:sldId id="261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1AF"/>
    <a:srgbClr val="2C3E50"/>
    <a:srgbClr val="2F80ED"/>
    <a:srgbClr val="56CCF2"/>
    <a:srgbClr val="8F94FB"/>
    <a:srgbClr val="4E54C8"/>
    <a:srgbClr val="4A00E0"/>
    <a:srgbClr val="8E2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544C2-C344-4E91-8EA5-A7EB343EBCEE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EA369-1C01-4F02-91FD-4DA7EDDEE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66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A0695-208C-4323-9BCC-4AC0167BB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54259F-AF17-4D9B-8419-4C878E629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89AF44-E123-495B-B614-B696ED41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AEF9D0-0A07-4802-8162-0BBAD8CD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3DDFD5-D251-4B7C-AE29-65521992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2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211CB-055C-45C3-8F41-84527B24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6BB3E2-AD49-47B6-8DA3-1ACCF3B9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2DF892-1DC0-4EE0-AA32-3D934D55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5BB12D-3DE1-4ECC-B03D-2C6CE17E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8D694F-279F-44C3-BD55-5EC9A420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46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96481-779A-4487-9E07-FE57C758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508661-FFE8-479C-B8E2-D7B2F2CF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82E954-B7F0-41C9-A3F2-87F96068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35453-4B9B-49DB-8C05-4BF66A56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D82336-7B0B-4543-B395-262B9C76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11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27564-F01B-486D-8ABE-F035FC6A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5D6A05-2145-4063-80CF-0740C73A7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72329F-2DFE-46AB-ABD8-CBA32E5A4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5E1D5B-87F1-4E33-8679-1DF986E0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C6CC2D-C071-4410-90C8-02EDD76D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70FAF3-7783-4C8D-97F0-57A9588F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67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3DC1A-802A-4DF3-9F88-947D6EDA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189C45-DF5E-4C68-856D-C175846E8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45F9E8-2397-4ABD-AA86-51D48B1E9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647932-6186-45A0-AEC1-54D5C33AF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F85EF1-9010-426F-BE1E-C47080099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992FE7-660E-4A5F-BC6C-B855C2AFC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AD3174-63BB-44F0-932F-8F85561E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E64993-447F-41C7-A507-82C95570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88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4AC9A-51CB-491F-BFB6-166E94E4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9970DBD-F823-4F8D-A7F9-86C8D71A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2A6956-B2E3-4BC6-86D0-78BFF384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6770DC-1FD1-44A4-9A4A-AE2E1A06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0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061AFB7-DAA9-4F0A-B6C7-B196936C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65133B-5097-452F-8A40-B2BFA077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B198C1-F93A-4B11-8C75-F54147E4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11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31829-36FD-4C9D-B2F7-3258084FE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44D26-C7D6-4B11-99DB-2B93A0BDB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E9294-0AD2-4363-B812-27ABE6023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BE59E3-C8A2-453E-BAD5-1988CD50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05628F-EB92-4F39-86AD-003C7057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B30E07-D31C-4290-86D6-BFCAF730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47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12AF4-C4A2-4665-B619-609E7E20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DF5D6C-709E-4E6E-8511-2BA9348E6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3BEB94-C164-4679-8B1D-A99C04778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607269-4A47-4BA0-8DC5-1904B826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FCD85F-9792-40EB-9861-DC752A96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1971B0-3AA9-49CE-812D-BECDCB59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00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7AE20-81C7-4FEA-B596-6B9B9ACFD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456A4C-214D-4471-89BD-72021C7AB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2318E9-1A3D-4F66-B6D8-8934B8B4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F1017-3C0B-4876-BA62-CDB48F94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2E13D0-0084-4035-8C91-8DD96CB8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64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6A7A17E-FF28-43BE-A00F-E7CFBEEDA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944DD0-5642-47BB-A734-B5CF527E8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31AF6A-7DFA-4BC0-AF02-65408528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8D2E4F-1C2C-4CDC-B501-4FED9697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91FA80-29D2-4ACC-A74B-1320D573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17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C3E50"/>
            </a:gs>
            <a:gs pos="100000">
              <a:srgbClr val="4CA1A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3D872-6748-403A-AF76-31F9E123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5365B4-741B-4872-8022-F91B2E693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BFC7A6-7717-4B8D-9BB6-F2AB8512F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1E76E-84A5-4485-B888-729720DB3E13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07B443-D5A3-4640-9E5F-B69ED9A8A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B3100E-7690-4EB4-B9AF-2BB3EFECF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A600-8978-45AE-8812-D5D94AC6CA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63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yberleninka.ru/" TargetMode="External"/><Relationship Id="rId5" Type="http://schemas.openxmlformats.org/officeDocument/2006/relationships/hyperlink" Target="https://cnki.net/" TargetMode="External"/><Relationship Id="rId4" Type="http://schemas.openxmlformats.org/officeDocument/2006/relationships/hyperlink" Target="http://www.sciencedirect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187A679-CA6A-4E5F-B687-7F57816F3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99248" y="232227"/>
            <a:ext cx="13402235" cy="6464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Aft>
                <a:spcPts val="0"/>
              </a:spcAft>
            </a:pPr>
            <a:r>
              <a:rPr lang="ru-RU" sz="4000" b="1" kern="0" dirty="0">
                <a:solidFill>
                  <a:srgbClr val="000000"/>
                </a:solidFill>
                <a:latin typeface="Arial" panose="020B0604020202020204" pitchFamily="34" charset="0"/>
              </a:rPr>
              <a:t>Доклад</a:t>
            </a:r>
            <a:r>
              <a:rPr lang="ru-RU" sz="3600" b="1" kern="0" dirty="0">
                <a:solidFill>
                  <a:srgbClr val="00007D"/>
                </a:solidFill>
                <a:latin typeface="Arial" panose="020B0604020202020204" pitchFamily="34" charset="0"/>
              </a:rPr>
              <a:t> </a:t>
            </a:r>
            <a:endParaRPr lang="ru-RU" sz="3200" b="1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1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kern="0" dirty="0">
                <a:solidFill>
                  <a:srgbClr val="00007D"/>
                </a:solidFill>
                <a:latin typeface="Arial" panose="020B0604020202020204" pitchFamily="34" charset="0"/>
              </a:rPr>
              <a:t>на тему «Постановка задачи</a:t>
            </a:r>
            <a:r>
              <a:rPr lang="ru-RU" sz="3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b="1" kern="0" dirty="0">
                <a:solidFill>
                  <a:srgbClr val="00007D"/>
                </a:solidFill>
                <a:latin typeface="Arial" panose="020B0604020202020204" pitchFamily="34" charset="0"/>
              </a:rPr>
              <a:t>магистерского исследования»</a:t>
            </a:r>
            <a:r>
              <a:rPr lang="ru-RU" sz="4400" b="1" kern="0" dirty="0">
                <a:solidFill>
                  <a:srgbClr val="00007D"/>
                </a:solidFill>
                <a:latin typeface="Arial" panose="020B0604020202020204" pitchFamily="34" charset="0"/>
              </a:rPr>
              <a:t/>
            </a:r>
            <a:br>
              <a:rPr lang="ru-RU" sz="4400" b="1" kern="0" dirty="0">
                <a:solidFill>
                  <a:srgbClr val="00007D"/>
                </a:solidFill>
                <a:latin typeface="Arial" panose="020B0604020202020204" pitchFamily="34" charset="0"/>
              </a:rPr>
            </a:br>
            <a:r>
              <a:rPr lang="ru-RU" sz="4400" b="1" kern="0" dirty="0">
                <a:solidFill>
                  <a:srgbClr val="00007D"/>
                </a:solidFill>
                <a:latin typeface="Arial" panose="020B0604020202020204" pitchFamily="34" charset="0"/>
              </a:rPr>
              <a:t>		</a:t>
            </a:r>
            <a:r>
              <a:rPr lang="ru-RU" sz="2400" b="1" i="1" dirty="0">
                <a:solidFill>
                  <a:srgbClr val="000000"/>
                </a:solidFill>
                <a:latin typeface="Arial" panose="020B0604020202020204" pitchFamily="34" charset="0"/>
              </a:rPr>
              <a:t>Автор доклада</a:t>
            </a:r>
            <a:r>
              <a:rPr lang="ru-RU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____________</a:t>
            </a:r>
            <a:r>
              <a:rPr lang="ru-RU" sz="2400" b="1" u="sng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Ириков</a:t>
            </a:r>
            <a:r>
              <a:rPr lang="ru-RU" sz="2400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 Евгений Алексеевич</a:t>
            </a:r>
            <a:r>
              <a:rPr lang="ru-RU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_________</a:t>
            </a:r>
            <a:r>
              <a:rPr lang="ru-RU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 			         </a:t>
            </a:r>
            <a:r>
              <a:rPr lang="ru-RU" sz="1600" b="1" i="1" dirty="0">
                <a:solidFill>
                  <a:srgbClr val="000000"/>
                </a:solidFill>
                <a:latin typeface="Arial" panose="020B0604020202020204" pitchFamily="34" charset="0"/>
              </a:rPr>
              <a:t>(Фамилия, имя , гр. АММ2-24 ) </a:t>
            </a:r>
            <a:endParaRPr lang="ru-RU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0"/>
              </a:spcAft>
            </a:pPr>
            <a:r>
              <a:rPr lang="ru-RU" sz="1600" b="1" i="1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ru-RU" sz="2400" b="1" i="1" dirty="0">
                <a:solidFill>
                  <a:srgbClr val="000000"/>
                </a:solidFill>
                <a:latin typeface="Arial" panose="020B0604020202020204" pitchFamily="34" charset="0"/>
              </a:rPr>
              <a:t>Руководитель магистерской диссертации___________</a:t>
            </a:r>
          </a:p>
          <a:p>
            <a:pPr marL="342900" indent="-342900">
              <a:spcAft>
                <a:spcPts val="0"/>
              </a:spcAft>
            </a:pPr>
            <a:r>
              <a:rPr lang="ru-RU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</a:t>
            </a:r>
            <a:r>
              <a:rPr lang="ru-RU" b="1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Альсова</a:t>
            </a:r>
            <a:r>
              <a:rPr lang="ru-RU" b="1" u="sng" dirty="0">
                <a:solidFill>
                  <a:srgbClr val="000000"/>
                </a:solidFill>
                <a:latin typeface="Arial" panose="020B0604020202020204" pitchFamily="34" charset="0"/>
              </a:rPr>
              <a:t> Ольга </a:t>
            </a:r>
            <a:r>
              <a:rPr lang="ru-RU" b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Константиновна </a:t>
            </a:r>
            <a:r>
              <a:rPr lang="ru-RU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к.т.н., </a:t>
            </a:r>
            <a:r>
              <a:rPr lang="ru-RU" b="1" u="sng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доцент, </a:t>
            </a:r>
            <a:r>
              <a:rPr lang="ru-RU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к.т.н</a:t>
            </a:r>
            <a:r>
              <a:rPr lang="ru-RU" b="1" u="sng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ru-RU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____</a:t>
            </a:r>
            <a:endParaRPr lang="ru-RU" sz="28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ctr">
              <a:spcAft>
                <a:spcPts val="0"/>
              </a:spcAft>
            </a:pPr>
            <a:r>
              <a:rPr lang="ru-RU" sz="1600" b="1" i="1" dirty="0" smtClean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ru-RU" sz="1600" b="1" i="1" dirty="0">
                <a:solidFill>
                  <a:srgbClr val="000000"/>
                </a:solidFill>
                <a:latin typeface="Arial" panose="020B0604020202020204" pitchFamily="34" charset="0"/>
              </a:rPr>
              <a:t>Ф.И.О. , должность по каф. ВТ, ученая степень, звание)</a:t>
            </a:r>
            <a:endParaRPr lang="ru-RU" sz="11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b="1" i="1" dirty="0">
                <a:solidFill>
                  <a:srgbClr val="000000"/>
                </a:solidFill>
                <a:latin typeface="Arial" panose="020B0604020202020204" pitchFamily="34" charset="0"/>
              </a:rPr>
              <a:t>Тема магистерской работы </a:t>
            </a:r>
            <a:r>
              <a:rPr lang="ru-RU" sz="2400" b="1" i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Разработка модуля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b="1" i="1" u="sng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анонимизации</a:t>
            </a:r>
            <a:r>
              <a:rPr lang="ru-RU" sz="2400" b="1" i="1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 системы обезличивания данных</a:t>
            </a:r>
            <a:endParaRPr lang="ru-RU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just">
              <a:spcAft>
                <a:spcPts val="0"/>
              </a:spcAft>
            </a:pPr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               Презентация обсуждена и согласована с научным</a:t>
            </a:r>
          </a:p>
          <a:p>
            <a:pPr marL="342900" indent="-342900">
              <a:spcAft>
                <a:spcPts val="0"/>
              </a:spcAft>
            </a:pPr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руководителем _______________________________________________</a:t>
            </a:r>
            <a:endParaRPr lang="ru-RU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0"/>
              </a:spcAft>
            </a:pPr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		                            </a:t>
            </a:r>
            <a:r>
              <a:rPr lang="ru-RU" sz="1400" b="1" i="1" dirty="0">
                <a:solidFill>
                  <a:srgbClr val="000000"/>
                </a:solidFill>
                <a:latin typeface="Arial" panose="020B0604020202020204" pitchFamily="34" charset="0"/>
              </a:rPr>
              <a:t>(Подпись руководителя, дата, оценка в % - из 100)</a:t>
            </a:r>
            <a:endParaRPr lang="ru-RU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CC33820-79C9-4600-B459-D4AA66253CB6}"/>
              </a:ext>
            </a:extLst>
          </p:cNvPr>
          <p:cNvSpPr txBox="1">
            <a:spLocks/>
          </p:cNvSpPr>
          <p:nvPr/>
        </p:nvSpPr>
        <p:spPr>
          <a:xfrm>
            <a:off x="10240209" y="6266330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№1</a:t>
            </a:r>
          </a:p>
        </p:txBody>
      </p:sp>
    </p:spTree>
    <p:extLst>
      <p:ext uri="{BB962C8B-B14F-4D97-AF65-F5344CB8AC3E}">
        <p14:creationId xmlns:p14="http://schemas.microsoft.com/office/powerpoint/2010/main" val="151081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255F6-1A7A-4083-80E5-09E7A9FC1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89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1. C</a:t>
            </a:r>
            <a:r>
              <a:rPr lang="ru-RU" sz="4000" dirty="0">
                <a:solidFill>
                  <a:schemeClr val="bg1"/>
                </a:solidFill>
              </a:rPr>
              <a:t>писок и характеристика источников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1.1 </a:t>
            </a:r>
            <a:r>
              <a:rPr lang="ru-RU" sz="4000" dirty="0">
                <a:solidFill>
                  <a:schemeClr val="bg1"/>
                </a:solidFill>
              </a:rPr>
              <a:t>Список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1F7498-FDFC-4EDF-BB52-2CE17194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42644"/>
            <a:ext cx="4559559" cy="2272156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David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NettletonData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Privacy and Privacy-Preserving Data Publishing. - Commercial Data Mining, 2014,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217-228</a:t>
            </a:r>
            <a:endParaRPr lang="ru-RU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Nihad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Ahmad Hassan,</a:t>
            </a: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Rami Hijazi Data Hiding Using Encryption Techniques. - Data Hiding Techniques in Windows OS., 2017,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133-205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Столбов А.П.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Обезличивание персональных данных в здравоохранении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Компьютерные и информационные науки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2017, </a:t>
            </a: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ISBN: 978-1-4799-2188-1.</a:t>
            </a:r>
            <a:endParaRPr lang="en-US" sz="2000" b="0" i="0" dirty="0" smtClean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Червяков Н.И., Евдокимов А.А., Галушкин А.И. </a:t>
            </a:r>
            <a:r>
              <a:rPr lang="ru-RU" sz="2000" dirty="0" smtClean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искусственных нейронных сетей и системы остаточных классов в </a:t>
            </a: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криптографии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— М.: ФИЗМАТЛИТ, 2012. — 280 с. — ISBN </a:t>
            </a: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978-5-9221-1386-1</a:t>
            </a:r>
          </a:p>
          <a:p>
            <a:pPr marL="514350" indent="-51435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37FA6E-6B4D-4B68-B123-3B200EF6F7EC}"/>
              </a:ext>
            </a:extLst>
          </p:cNvPr>
          <p:cNvSpPr txBox="1">
            <a:spLocks/>
          </p:cNvSpPr>
          <p:nvPr/>
        </p:nvSpPr>
        <p:spPr>
          <a:xfrm>
            <a:off x="5634317" y="1641848"/>
            <a:ext cx="61273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2D8D720-E505-4003-B4DD-6655D12C5BF4}"/>
              </a:ext>
            </a:extLst>
          </p:cNvPr>
          <p:cNvSpPr txBox="1">
            <a:spLocks/>
          </p:cNvSpPr>
          <p:nvPr/>
        </p:nvSpPr>
        <p:spPr>
          <a:xfrm>
            <a:off x="329452" y="1650858"/>
            <a:ext cx="5766548" cy="43123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Е.А., 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Андрейченко 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А.Е., 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Казакова 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 А. </a:t>
            </a:r>
            <a:r>
              <a:rPr lang="ru-RU" sz="1200" dirty="0" smtClean="0">
                <a:solidFill>
                  <a:schemeClr val="bg1"/>
                </a:solidFill>
              </a:rPr>
              <a:t>Обезличивание </a:t>
            </a:r>
            <a:r>
              <a:rPr lang="ru-RU" sz="1200" dirty="0">
                <a:solidFill>
                  <a:schemeClr val="bg1"/>
                </a:solidFill>
              </a:rPr>
              <a:t>медицинских текстовых данных для разработки и внедрения систем искусственного </a:t>
            </a:r>
            <a:r>
              <a:rPr lang="ru-RU" sz="1200" dirty="0" smtClean="0">
                <a:solidFill>
                  <a:schemeClr val="bg1"/>
                </a:solidFill>
              </a:rPr>
              <a:t>интеллекта 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Правовая информатика, 2024. - С. 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96-104. 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(Перевод статьи)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Soumia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Zohra El </a:t>
            </a: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Mestari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Gabriele </a:t>
            </a: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Lenzini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Huseyin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Demirci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Preserving data privacy in machine learning systems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Computers &amp; Security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- 20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–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V.1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Guangxi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Lu,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Kaiyang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Xiaotong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Wang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Neural-based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inexact graph de-anonymization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High-Confidence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–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– V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№ 1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Elliot, Functional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anonymisation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Personal data and the data environment // Computer Law &amp; Security Review,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2018, P. 204-221.</a:t>
            </a:r>
            <a:endParaRPr lang="ru-RU" sz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Guangxi Lu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Kaiyang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Xiaotong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Wang  </a:t>
            </a:r>
            <a:r>
              <a:rPr lang="en-US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Anonymisation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personal data – A missed opportunity for the European Commission // High-Confidence Computing.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–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№ 1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 В. Борисов, А. В. </a:t>
            </a:r>
            <a:r>
              <a:rPr lang="ru-RU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Босов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А. В. Иванов Применение имитационного компьютерного моделирования к задаче обезличивания персональных данных. Модель и алгоритм обезличивания методом синтеза.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20</a:t>
            </a:r>
            <a:r>
              <a:rPr lang="ru-RU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3 - 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№ 5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- С. </a:t>
            </a:r>
            <a:r>
              <a:rPr lang="ru-RU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19-34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00" b="0" i="0" dirty="0" smtClean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Столбов 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 П.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стандартизации методов </a:t>
            </a:r>
            <a:r>
              <a:rPr lang="ru-RU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псевдонимизации</a:t>
            </a: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персональных данных в здравоохранении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ru-RU" sz="1200" dirty="0" smtClean="0">
                <a:solidFill>
                  <a:schemeClr val="bg1"/>
                </a:solidFill>
              </a:rPr>
              <a:t>Молодой ученый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200" dirty="0" smtClean="0">
                <a:solidFill>
                  <a:schemeClr val="bg1"/>
                </a:solidFill>
              </a:rPr>
              <a:t>- 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ru-RU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- С. 5-13</a:t>
            </a:r>
            <a:r>
              <a:rPr lang="en-US" sz="12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00" b="0" i="0" dirty="0" smtClean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"О персональных данных" от 27.07.2006 N 152-ФЗ (последняя редакция) \ </a:t>
            </a:r>
            <a:r>
              <a:rPr lang="ru-RU" sz="1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КонсультантПлюс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https://www.consultant.ru/document/cons_doc_LAW_61801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ru-RU" sz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data protection regulation (GDPR) |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EUR-Lex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1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https://eur-lex.europa.eu/EN/legal-content/summary/general-data-protection-regulation-gdpr.html</a:t>
            </a:r>
            <a:endParaRPr lang="ru-RU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A2B9281-EA82-4103-AACC-B05101C63A53}"/>
              </a:ext>
            </a:extLst>
          </p:cNvPr>
          <p:cNvSpPr txBox="1">
            <a:spLocks/>
          </p:cNvSpPr>
          <p:nvPr/>
        </p:nvSpPr>
        <p:spPr>
          <a:xfrm>
            <a:off x="6096000" y="1506547"/>
            <a:ext cx="3016624" cy="325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600" b="1" dirty="0">
                <a:solidFill>
                  <a:schemeClr val="bg1"/>
                </a:solidFill>
              </a:rPr>
              <a:t>Монографии(книги</a:t>
            </a:r>
            <a:r>
              <a:rPr lang="ru-RU" sz="2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A74E778-B953-4736-B474-F609059FAAC0}"/>
              </a:ext>
            </a:extLst>
          </p:cNvPr>
          <p:cNvSpPr txBox="1">
            <a:spLocks/>
          </p:cNvSpPr>
          <p:nvPr/>
        </p:nvSpPr>
        <p:spPr>
          <a:xfrm>
            <a:off x="430306" y="1433999"/>
            <a:ext cx="2151530" cy="325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200" b="1" dirty="0">
                <a:solidFill>
                  <a:schemeClr val="bg1"/>
                </a:solidFill>
              </a:rPr>
              <a:t>Статьи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9" name="Заголовок 4">
            <a:extLst>
              <a:ext uri="{FF2B5EF4-FFF2-40B4-BE49-F238E27FC236}">
                <a16:creationId xmlns:a16="http://schemas.microsoft.com/office/drawing/2014/main" id="{5BBC39DC-D5E9-460E-8349-E83F930E2171}"/>
              </a:ext>
            </a:extLst>
          </p:cNvPr>
          <p:cNvSpPr txBox="1">
            <a:spLocks/>
          </p:cNvSpPr>
          <p:nvPr/>
        </p:nvSpPr>
        <p:spPr>
          <a:xfrm>
            <a:off x="10213315" y="6275294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№2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, , , ,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, , , ,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, , , ,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096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762000" y="762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914400" y="914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1066800" y="1066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1F1F1F"/>
                </a:solidFill>
                <a:effectLst/>
                <a:latin typeface="ElsevierSans"/>
              </a:rPr>
              <a:t>, </a:t>
            </a: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7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8EE5B-4978-47CE-AE58-67A6A820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157"/>
            <a:ext cx="11156576" cy="1867087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1.2. </a:t>
            </a:r>
            <a:r>
              <a:rPr lang="ru-RU" sz="4000" dirty="0" smtClean="0">
                <a:solidFill>
                  <a:schemeClr val="bg1"/>
                </a:solidFill>
              </a:rPr>
              <a:t>Характеристика источников </a:t>
            </a:r>
            <a:br>
              <a:rPr lang="ru-RU" sz="4000" dirty="0" smtClean="0">
                <a:solidFill>
                  <a:schemeClr val="bg1"/>
                </a:solidFill>
              </a:rPr>
            </a:br>
            <a:r>
              <a:rPr lang="ru-RU" sz="4000" dirty="0" smtClean="0">
                <a:solidFill>
                  <a:schemeClr val="bg1"/>
                </a:solidFill>
              </a:rPr>
              <a:t>1.2.1 Географическое положение и сферы публикаций</a:t>
            </a:r>
            <a:r>
              <a:rPr lang="ru-RU" dirty="0">
                <a:solidFill>
                  <a:schemeClr val="bg1"/>
                </a:solidFill>
              </a:rPr>
              <a:t/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770CA99-FE23-491F-9AB4-0560E5849FA6}"/>
              </a:ext>
            </a:extLst>
          </p:cNvPr>
          <p:cNvSpPr txBox="1">
            <a:spLocks/>
          </p:cNvSpPr>
          <p:nvPr/>
        </p:nvSpPr>
        <p:spPr>
          <a:xfrm>
            <a:off x="10249172" y="6140823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CD8A6-27B1-4089-89B4-0E1AFBC72F90}"/>
              </a:ext>
            </a:extLst>
          </p:cNvPr>
          <p:cNvSpPr txBox="1"/>
          <p:nvPr/>
        </p:nvSpPr>
        <p:spPr>
          <a:xfrm>
            <a:off x="566298" y="5323878"/>
            <a:ext cx="5499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Большинство публикаций издается из </a:t>
            </a:r>
            <a:r>
              <a:rPr lang="ru-RU" dirty="0" smtClean="0">
                <a:solidFill>
                  <a:schemeClr val="bg1"/>
                </a:solidFill>
              </a:rPr>
              <a:t>стран Евросоюза, Америки и России, остальные страны менее заинтересованы в данной тематике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7" y="1704734"/>
            <a:ext cx="5311600" cy="33607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CD8A6-27B1-4089-89B4-0E1AFBC72F90}"/>
              </a:ext>
            </a:extLst>
          </p:cNvPr>
          <p:cNvSpPr txBox="1"/>
          <p:nvPr/>
        </p:nvSpPr>
        <p:spPr>
          <a:xfrm>
            <a:off x="6416488" y="5323878"/>
            <a:ext cx="5499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Большинство публикаций </a:t>
            </a:r>
            <a:r>
              <a:rPr lang="ru-RU" dirty="0" smtClean="0">
                <a:solidFill>
                  <a:schemeClr val="bg1"/>
                </a:solidFill>
              </a:rPr>
              <a:t>принадлежат юридическим наукам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и информационным наукам. Далее идет медицинская и бизнес сфера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04" y="1704733"/>
            <a:ext cx="5446398" cy="3360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1CD8A6-27B1-4089-89B4-0E1AFBC72F90}"/>
              </a:ext>
            </a:extLst>
          </p:cNvPr>
          <p:cNvSpPr txBox="1"/>
          <p:nvPr/>
        </p:nvSpPr>
        <p:spPr>
          <a:xfrm>
            <a:off x="566298" y="6405052"/>
            <a:ext cx="10751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Данные взяты </a:t>
            </a:r>
            <a:r>
              <a:rPr lang="ru-RU" dirty="0">
                <a:solidFill>
                  <a:schemeClr val="bg1"/>
                </a:solidFill>
              </a:rPr>
              <a:t>с </a:t>
            </a:r>
            <a:r>
              <a:rPr lang="ru-RU" dirty="0" smtClean="0">
                <a:solidFill>
                  <a:schemeClr val="bg1"/>
                </a:solidFill>
              </a:rPr>
              <a:t>сайтов </a:t>
            </a:r>
            <a:r>
              <a:rPr lang="en-US" dirty="0" smtClean="0">
                <a:solidFill>
                  <a:schemeClr val="bg1"/>
                </a:solidFill>
                <a:hlinkClick r:id="rId4"/>
              </a:rPr>
              <a:t>www.sciencedirect.com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hlinkClick r:id="rId5"/>
              </a:rPr>
              <a:t>https</a:t>
            </a:r>
            <a:r>
              <a:rPr lang="en-US" dirty="0">
                <a:solidFill>
                  <a:schemeClr val="bg1"/>
                </a:solidFill>
                <a:hlinkClick r:id="rId5"/>
              </a:rPr>
              <a:t>://</a:t>
            </a:r>
            <a:r>
              <a:rPr lang="en-US" dirty="0" smtClean="0">
                <a:solidFill>
                  <a:schemeClr val="bg1"/>
                </a:solidFill>
                <a:hlinkClick r:id="rId5"/>
              </a:rPr>
              <a:t>cnki.net</a:t>
            </a:r>
            <a:r>
              <a:rPr lang="ru-RU" dirty="0" smtClean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  <a:hlinkClick r:id="rId6"/>
              </a:rPr>
              <a:t>https</a:t>
            </a:r>
            <a:r>
              <a:rPr lang="en-US" dirty="0">
                <a:solidFill>
                  <a:schemeClr val="bg1"/>
                </a:solidFill>
                <a:hlinkClick r:id="rId6"/>
              </a:rPr>
              <a:t>://cyberleninka.ru</a:t>
            </a:r>
            <a:r>
              <a:rPr lang="en-US" dirty="0" smtClean="0">
                <a:solidFill>
                  <a:schemeClr val="bg1"/>
                </a:solidFill>
                <a:hlinkClick r:id="rId6"/>
              </a:rPr>
              <a:t>/</a:t>
            </a:r>
            <a:r>
              <a:rPr lang="ru-RU" dirty="0" smtClean="0">
                <a:solidFill>
                  <a:schemeClr val="bg1"/>
                </a:solidFill>
              </a:rPr>
              <a:t> 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81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8B974-BA94-4DD6-8051-5DA2DCEB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1.2.2 Год публикации источников</a:t>
            </a:r>
          </a:p>
        </p:txBody>
      </p: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8D644D58-483A-4CF2-8472-897737154522}"/>
              </a:ext>
            </a:extLst>
          </p:cNvPr>
          <p:cNvSpPr txBox="1">
            <a:spLocks/>
          </p:cNvSpPr>
          <p:nvPr/>
        </p:nvSpPr>
        <p:spPr>
          <a:xfrm>
            <a:off x="10302962" y="6167718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№4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53F0D24-7052-457B-8E43-6DC7FE89F946}"/>
              </a:ext>
            </a:extLst>
          </p:cNvPr>
          <p:cNvSpPr txBox="1">
            <a:spLocks/>
          </p:cNvSpPr>
          <p:nvPr/>
        </p:nvSpPr>
        <p:spPr>
          <a:xfrm>
            <a:off x="1783613" y="4479870"/>
            <a:ext cx="8955739" cy="1853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chemeClr val="bg1"/>
                </a:solidFill>
              </a:rPr>
              <a:t>Диаграмма показывает динамику интереса к теме </a:t>
            </a:r>
            <a:r>
              <a:rPr lang="ru-RU" sz="4000" dirty="0" err="1" smtClean="0">
                <a:solidFill>
                  <a:schemeClr val="bg1"/>
                </a:solidFill>
              </a:rPr>
              <a:t>анонимизации</a:t>
            </a:r>
            <a:r>
              <a:rPr lang="ru-RU" sz="4000" dirty="0" smtClean="0">
                <a:solidFill>
                  <a:schemeClr val="bg1"/>
                </a:solidFill>
              </a:rPr>
              <a:t> персональных данных </a:t>
            </a:r>
            <a:r>
              <a:rPr lang="ru-RU" sz="4000" dirty="0">
                <a:solidFill>
                  <a:schemeClr val="bg1"/>
                </a:solidFill>
              </a:rPr>
              <a:t>в</a:t>
            </a:r>
            <a:r>
              <a:rPr lang="ru-RU" sz="4000" dirty="0" smtClean="0">
                <a:solidFill>
                  <a:schemeClr val="bg1"/>
                </a:solidFill>
              </a:rPr>
              <a:t>о всех предметных областях с </a:t>
            </a:r>
            <a:r>
              <a:rPr lang="ru-RU" sz="4000" dirty="0">
                <a:solidFill>
                  <a:schemeClr val="bg1"/>
                </a:solidFill>
              </a:rPr>
              <a:t>начала 2000-х годов до настоящего времени. </a:t>
            </a:r>
            <a:r>
              <a:rPr lang="ru-RU" sz="4000" dirty="0" smtClean="0">
                <a:solidFill>
                  <a:schemeClr val="bg1"/>
                </a:solidFill>
              </a:rPr>
              <a:t>На ней видно, </a:t>
            </a:r>
            <a:r>
              <a:rPr lang="ru-RU" sz="4000" dirty="0">
                <a:solidFill>
                  <a:schemeClr val="bg1"/>
                </a:solidFill>
              </a:rPr>
              <a:t>что </a:t>
            </a:r>
            <a:r>
              <a:rPr lang="ru-RU" sz="4000" dirty="0" smtClean="0">
                <a:solidFill>
                  <a:schemeClr val="bg1"/>
                </a:solidFill>
              </a:rPr>
              <a:t>впервые тема была затронута в 2000 годы и </a:t>
            </a:r>
            <a:r>
              <a:rPr lang="ru-RU" sz="4000" dirty="0">
                <a:solidFill>
                  <a:schemeClr val="bg1"/>
                </a:solidFill>
              </a:rPr>
              <a:t>была не столь популярна, с низким количеством </a:t>
            </a:r>
            <a:r>
              <a:rPr lang="ru-RU" sz="4000" dirty="0" smtClean="0">
                <a:solidFill>
                  <a:schemeClr val="bg1"/>
                </a:solidFill>
              </a:rPr>
              <a:t>публикаций. </a:t>
            </a:r>
            <a:r>
              <a:rPr lang="ru-RU" sz="4000" dirty="0">
                <a:solidFill>
                  <a:schemeClr val="bg1"/>
                </a:solidFill>
              </a:rPr>
              <a:t>Однако начиная </a:t>
            </a:r>
            <a:r>
              <a:rPr lang="ru-RU" sz="4000" dirty="0" smtClean="0">
                <a:solidFill>
                  <a:schemeClr val="bg1"/>
                </a:solidFill>
              </a:rPr>
              <a:t>с середины 2010 годов </a:t>
            </a:r>
            <a:r>
              <a:rPr lang="ru-RU" sz="4000" dirty="0">
                <a:solidFill>
                  <a:schemeClr val="bg1"/>
                </a:solidFill>
              </a:rPr>
              <a:t>наблюдается </a:t>
            </a:r>
            <a:r>
              <a:rPr lang="ru-RU" sz="4000" dirty="0" smtClean="0">
                <a:solidFill>
                  <a:schemeClr val="bg1"/>
                </a:solidFill>
              </a:rPr>
              <a:t>резкий рост </a:t>
            </a:r>
            <a:r>
              <a:rPr lang="ru-RU" sz="4000" dirty="0">
                <a:solidFill>
                  <a:schemeClr val="bg1"/>
                </a:solidFill>
              </a:rPr>
              <a:t>публикаций, что может быть связано с </a:t>
            </a:r>
            <a:r>
              <a:rPr lang="ru-RU" sz="4000" dirty="0" smtClean="0">
                <a:solidFill>
                  <a:schemeClr val="bg1"/>
                </a:solidFill>
              </a:rPr>
              <a:t>увеличением объёма персональных данных и увеличением риска их утечки.</a:t>
            </a:r>
          </a:p>
          <a:p>
            <a:endParaRPr lang="ru-RU" sz="4000" dirty="0" smtClean="0">
              <a:solidFill>
                <a:schemeClr val="bg1"/>
              </a:solidFill>
            </a:endParaRPr>
          </a:p>
          <a:p>
            <a:r>
              <a:rPr lang="ru-RU" sz="4000" dirty="0" smtClean="0">
                <a:solidFill>
                  <a:schemeClr val="bg1"/>
                </a:solidFill>
              </a:rPr>
              <a:t>Данные взяты с сайта </a:t>
            </a:r>
            <a:r>
              <a:rPr lang="en-US" sz="4000" dirty="0">
                <a:solidFill>
                  <a:schemeClr val="bg1"/>
                </a:solidFill>
              </a:rPr>
              <a:t>www.sciencedirect.com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51" y="1433041"/>
            <a:ext cx="6554097" cy="2905693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0916815" y="5439746"/>
            <a:ext cx="2340429" cy="72797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313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6F41C-3806-4465-B66B-38AE7A91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20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1.</a:t>
            </a:r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ru-RU" dirty="0">
                <a:solidFill>
                  <a:schemeClr val="bg1"/>
                </a:solidFill>
              </a:rPr>
              <a:t> Анализ существующих </a:t>
            </a:r>
            <a:r>
              <a:rPr lang="ru-RU" dirty="0" smtClean="0">
                <a:solidFill>
                  <a:schemeClr val="bg1"/>
                </a:solidFill>
              </a:rPr>
              <a:t>систем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1.3.1 Общая таблица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6BE2F-DF62-4E90-8E7F-95E2DC70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883"/>
            <a:ext cx="10515600" cy="4906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Рассмотрим существующие системы с позиций реализованных методов обезличивания, поддержки СУБД, открытости программного </a:t>
            </a:r>
            <a:r>
              <a:rPr lang="ru-RU" dirty="0" smtClean="0">
                <a:solidFill>
                  <a:schemeClr val="bg1"/>
                </a:solidFill>
              </a:rPr>
              <a:t>кода.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D84A30D-C7CE-4892-A9FD-1C1D69B4CBB6}"/>
              </a:ext>
            </a:extLst>
          </p:cNvPr>
          <p:cNvSpPr txBox="1">
            <a:spLocks/>
          </p:cNvSpPr>
          <p:nvPr/>
        </p:nvSpPr>
        <p:spPr>
          <a:xfrm>
            <a:off x="10159527" y="6176963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№6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ADA3B4E-9C5E-4D10-9A6A-0C30BAEA1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52872"/>
              </p:ext>
            </p:extLst>
          </p:nvPr>
        </p:nvGraphicFramePr>
        <p:xfrm>
          <a:off x="838200" y="2738446"/>
          <a:ext cx="10909042" cy="3510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452">
                  <a:extLst>
                    <a:ext uri="{9D8B030D-6E8A-4147-A177-3AD203B41FA5}">
                      <a16:colId xmlns:a16="http://schemas.microsoft.com/office/drawing/2014/main" val="3829480106"/>
                    </a:ext>
                  </a:extLst>
                </a:gridCol>
                <a:gridCol w="3673491">
                  <a:extLst>
                    <a:ext uri="{9D8B030D-6E8A-4147-A177-3AD203B41FA5}">
                      <a16:colId xmlns:a16="http://schemas.microsoft.com/office/drawing/2014/main" val="2313111611"/>
                    </a:ext>
                  </a:extLst>
                </a:gridCol>
                <a:gridCol w="2502072">
                  <a:extLst>
                    <a:ext uri="{9D8B030D-6E8A-4147-A177-3AD203B41FA5}">
                      <a16:colId xmlns:a16="http://schemas.microsoft.com/office/drawing/2014/main" val="2222066137"/>
                    </a:ext>
                  </a:extLst>
                </a:gridCol>
                <a:gridCol w="1487027">
                  <a:extLst>
                    <a:ext uri="{9D8B030D-6E8A-4147-A177-3AD203B41FA5}">
                      <a16:colId xmlns:a16="http://schemas.microsoft.com/office/drawing/2014/main" val="2534665336"/>
                    </a:ext>
                  </a:extLst>
                </a:gridCol>
              </a:tblGrid>
              <a:tr h="8034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Продукт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 реализованных методы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</a:t>
                      </a:r>
                      <a:r>
                        <a:rPr lang="ru-RU" sz="16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вводных </a:t>
                      </a: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данных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Открытый исходный код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8126300"/>
                  </a:ext>
                </a:extLst>
              </a:tr>
              <a:tr h="3756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Anonymizer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9245995"/>
                  </a:ext>
                </a:extLst>
              </a:tr>
              <a:tr h="5224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MySQL </a:t>
                      </a: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Anonymizer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9002947"/>
                  </a:ext>
                </a:extLst>
              </a:tr>
              <a:tr h="4635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Anonify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8924292"/>
                  </a:ext>
                </a:extLst>
              </a:tr>
              <a:tr h="5373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Google Differential Privacy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Только синтетические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210233"/>
                  </a:ext>
                </a:extLst>
              </a:tr>
              <a:tr h="8076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ARX Data Anonymization Tool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JDBC</a:t>
                      </a:r>
                      <a:r>
                        <a:rPr lang="ru-RU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CSV, EXCEL</a:t>
                      </a:r>
                      <a:endParaRPr lang="ru-RU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7709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90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6F41C-3806-4465-B66B-38AE7A91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6BE2F-DF62-4E90-8E7F-95E2DC70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883"/>
            <a:ext cx="10515600" cy="4906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D84A30D-C7CE-4892-A9FD-1C1D69B4CBB6}"/>
              </a:ext>
            </a:extLst>
          </p:cNvPr>
          <p:cNvSpPr txBox="1">
            <a:spLocks/>
          </p:cNvSpPr>
          <p:nvPr/>
        </p:nvSpPr>
        <p:spPr>
          <a:xfrm>
            <a:off x="10159527" y="6176963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№6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ADA3B4E-9C5E-4D10-9A6A-0C30BAEA1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39061"/>
              </p:ext>
            </p:extLst>
          </p:nvPr>
        </p:nvGraphicFramePr>
        <p:xfrm>
          <a:off x="1739459" y="1530903"/>
          <a:ext cx="8420068" cy="4325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298">
                  <a:extLst>
                    <a:ext uri="{9D8B030D-6E8A-4147-A177-3AD203B41FA5}">
                      <a16:colId xmlns:a16="http://schemas.microsoft.com/office/drawing/2014/main" val="3829480106"/>
                    </a:ext>
                  </a:extLst>
                </a:gridCol>
                <a:gridCol w="1082150">
                  <a:extLst>
                    <a:ext uri="{9D8B030D-6E8A-4147-A177-3AD203B41FA5}">
                      <a16:colId xmlns:a16="http://schemas.microsoft.com/office/drawing/2014/main" val="3141702203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1528684768"/>
                    </a:ext>
                  </a:extLst>
                </a:gridCol>
                <a:gridCol w="630873">
                  <a:extLst>
                    <a:ext uri="{9D8B030D-6E8A-4147-A177-3AD203B41FA5}">
                      <a16:colId xmlns:a16="http://schemas.microsoft.com/office/drawing/2014/main" val="2313111611"/>
                    </a:ext>
                  </a:extLst>
                </a:gridCol>
                <a:gridCol w="1727835">
                  <a:extLst>
                    <a:ext uri="{9D8B030D-6E8A-4147-A177-3AD203B41FA5}">
                      <a16:colId xmlns:a16="http://schemas.microsoft.com/office/drawing/2014/main" val="2222066137"/>
                    </a:ext>
                  </a:extLst>
                </a:gridCol>
                <a:gridCol w="1487027">
                  <a:extLst>
                    <a:ext uri="{9D8B030D-6E8A-4147-A177-3AD203B41FA5}">
                      <a16:colId xmlns:a16="http://schemas.microsoft.com/office/drawing/2014/main" val="2534665336"/>
                    </a:ext>
                  </a:extLst>
                </a:gridCol>
              </a:tblGrid>
              <a:tr h="80347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5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Продукт</a:t>
                      </a: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05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5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Anonymizer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5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MySQL Anonymizer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5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Anonify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5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Google Differential Privacy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05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ARX </a:t>
                      </a:r>
                      <a:r>
                        <a:rPr lang="ru-RU" sz="105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ru-RU" sz="105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05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Anonymization</a:t>
                      </a:r>
                      <a:r>
                        <a:rPr lang="ru-RU" sz="105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8126300"/>
                  </a:ext>
                </a:extLst>
              </a:tr>
              <a:tr h="3756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Введение идентификаторов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9245995"/>
                  </a:ext>
                </a:extLst>
              </a:tr>
              <a:tr h="5224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Декомпозиции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9002947"/>
                  </a:ext>
                </a:extLst>
              </a:tr>
              <a:tr h="4635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Перемешивание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8924292"/>
                  </a:ext>
                </a:extLst>
              </a:tr>
              <a:tr h="3045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Изменение состава или семантики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050" b="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210233"/>
                  </a:ext>
                </a:extLst>
              </a:tr>
              <a:tr h="2985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Обобщений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7709244"/>
                  </a:ext>
                </a:extLst>
              </a:tr>
              <a:tr h="3016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Кодирование сверху</a:t>
                      </a:r>
                      <a:r>
                        <a:rPr lang="en-US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снизу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579970"/>
                  </a:ext>
                </a:extLst>
              </a:tr>
              <a:tr h="37020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Локальное подавление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8712012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Микро-агрегирование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2375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шума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87166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Округления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5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3813034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4E6F41C-3806-4465-B66B-38AE7A914AAF}"/>
              </a:ext>
            </a:extLst>
          </p:cNvPr>
          <p:cNvSpPr txBox="1">
            <a:spLocks/>
          </p:cNvSpPr>
          <p:nvPr/>
        </p:nvSpPr>
        <p:spPr>
          <a:xfrm>
            <a:off x="947430" y="914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>
                <a:solidFill>
                  <a:schemeClr val="bg1"/>
                </a:solidFill>
              </a:rPr>
              <a:t>1.3.2 Таблица поддерживаемых методов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85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0E438-0B5E-4786-9721-A65BDF32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5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1.4</a:t>
            </a:r>
            <a:r>
              <a:rPr lang="ru-RU" sz="4000" dirty="0" smtClean="0">
                <a:solidFill>
                  <a:schemeClr val="bg1"/>
                </a:solidFill>
              </a:rPr>
              <a:t> </a:t>
            </a:r>
            <a:r>
              <a:rPr lang="ru-RU" sz="4000" dirty="0">
                <a:solidFill>
                  <a:schemeClr val="bg1"/>
                </a:solidFill>
              </a:rPr>
              <a:t>Выводы по аналитическому обзору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D627EE-8B06-471D-8DBD-CEABCCE5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495"/>
            <a:ext cx="10515600" cy="5211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chemeClr val="bg1"/>
                </a:solidFill>
              </a:rPr>
              <a:t>Ключевые слова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  <a:r>
              <a:rPr lang="ru-RU" sz="1400" dirty="0">
                <a:solidFill>
                  <a:schemeClr val="bg1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конфиденциальность, обезличивание </a:t>
            </a:r>
            <a:r>
              <a:rPr lang="ru-RU" sz="1400" dirty="0">
                <a:solidFill>
                  <a:schemeClr val="bg1"/>
                </a:solidFill>
              </a:rPr>
              <a:t>данных, </a:t>
            </a:r>
            <a:r>
              <a:rPr lang="ru-RU" sz="1400" dirty="0" smtClean="0">
                <a:solidFill>
                  <a:schemeClr val="bg1"/>
                </a:solidFill>
              </a:rPr>
              <a:t>персональные данные</a:t>
            </a:r>
            <a:r>
              <a:rPr lang="ru-RU" sz="1400" dirty="0">
                <a:solidFill>
                  <a:schemeClr val="bg1"/>
                </a:solidFill>
              </a:rPr>
              <a:t>, </a:t>
            </a:r>
            <a:r>
              <a:rPr lang="ru-RU" sz="1400" dirty="0" smtClean="0">
                <a:solidFill>
                  <a:schemeClr val="bg1"/>
                </a:solidFill>
              </a:rPr>
              <a:t>искусственные </a:t>
            </a:r>
            <a:r>
              <a:rPr lang="ru-RU" sz="1400" dirty="0">
                <a:solidFill>
                  <a:schemeClr val="bg1"/>
                </a:solidFill>
              </a:rPr>
              <a:t>нейронные сети, защита информации, </a:t>
            </a:r>
            <a:r>
              <a:rPr lang="ru-RU" sz="1400" dirty="0" smtClean="0">
                <a:solidFill>
                  <a:schemeClr val="bg1"/>
                </a:solidFill>
              </a:rPr>
              <a:t>большие данные, алгоритмы обезличивания, база данных</a:t>
            </a:r>
            <a:endParaRPr lang="ru-RU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b="1" dirty="0" smtClean="0">
                <a:solidFill>
                  <a:schemeClr val="bg1"/>
                </a:solidFill>
              </a:rPr>
              <a:t>История проблемы </a:t>
            </a:r>
            <a:r>
              <a:rPr lang="ru-RU" sz="1400" dirty="0" smtClean="0">
                <a:solidFill>
                  <a:schemeClr val="bg1"/>
                </a:solidFill>
              </a:rPr>
              <a:t>обезличивания данных связана с защитой пользователей от рисков утечки информации</a:t>
            </a:r>
            <a:r>
              <a:rPr lang="ru-RU" sz="1400" dirty="0">
                <a:solidFill>
                  <a:schemeClr val="bg1"/>
                </a:solidFill>
              </a:rPr>
              <a:t>, и изначально возникла из-за необходимости обеспечения конфиденциальности медицинских записей, а затем распространилась на другие области, где обрабатываются персональные данные.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400" dirty="0" smtClean="0">
                <a:solidFill>
                  <a:schemeClr val="bg1"/>
                </a:solidFill>
              </a:rPr>
              <a:t>Основные </a:t>
            </a:r>
            <a:r>
              <a:rPr lang="ru-RU" sz="1400" dirty="0">
                <a:solidFill>
                  <a:schemeClr val="bg1"/>
                </a:solidFill>
              </a:rPr>
              <a:t>аспекты и </a:t>
            </a:r>
            <a:r>
              <a:rPr lang="ru-RU" sz="1400" dirty="0" smtClean="0">
                <a:solidFill>
                  <a:schemeClr val="bg1"/>
                </a:solidFill>
              </a:rPr>
              <a:t>этапы </a:t>
            </a:r>
            <a:r>
              <a:rPr lang="ru-RU" sz="1400" dirty="0">
                <a:solidFill>
                  <a:schemeClr val="bg1"/>
                </a:solidFill>
              </a:rPr>
              <a:t>истории: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Начало 2000-х: </a:t>
            </a:r>
            <a:r>
              <a:rPr lang="ru-RU" sz="1400" dirty="0">
                <a:solidFill>
                  <a:schemeClr val="bg1"/>
                </a:solidFill>
              </a:rPr>
              <a:t>Первые попытки стандартизировать методы обезличивания данных в рамках обеспечения конфиденциальности информации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 smtClean="0">
                <a:solidFill>
                  <a:schemeClr val="bg1"/>
                </a:solidFill>
              </a:rPr>
              <a:t>2006</a:t>
            </a:r>
            <a:r>
              <a:rPr lang="ru-RU" sz="1400" b="1" dirty="0">
                <a:solidFill>
                  <a:schemeClr val="bg1"/>
                </a:solidFill>
              </a:rPr>
              <a:t>: </a:t>
            </a:r>
            <a:r>
              <a:rPr lang="ru-RU" sz="1400" dirty="0" smtClean="0">
                <a:solidFill>
                  <a:schemeClr val="bg1"/>
                </a:solidFill>
              </a:rPr>
              <a:t>Вступление в силу  ФЗ-152</a:t>
            </a:r>
            <a:r>
              <a:rPr lang="en-US" sz="1400" dirty="0" smtClean="0">
                <a:solidFill>
                  <a:schemeClr val="bg1"/>
                </a:solidFill>
              </a:rPr>
              <a:t> “</a:t>
            </a:r>
            <a:r>
              <a:rPr lang="ru-RU" sz="1400" dirty="0" smtClean="0">
                <a:solidFill>
                  <a:schemeClr val="bg1"/>
                </a:solidFill>
              </a:rPr>
              <a:t>О персональных данных</a:t>
            </a:r>
            <a:r>
              <a:rPr lang="en-US" sz="1400" dirty="0" smtClean="0">
                <a:solidFill>
                  <a:schemeClr val="bg1"/>
                </a:solidFill>
              </a:rPr>
              <a:t>”</a:t>
            </a:r>
            <a:r>
              <a:rPr lang="ru-RU" sz="1400" dirty="0" smtClean="0">
                <a:solidFill>
                  <a:schemeClr val="bg1"/>
                </a:solidFill>
              </a:rPr>
              <a:t> в Российской Федерации</a:t>
            </a:r>
            <a:endParaRPr lang="en-US" sz="1400" dirty="0" smtClean="0">
              <a:solidFill>
                <a:schemeClr val="bg1"/>
              </a:solidFill>
            </a:endParaRPr>
          </a:p>
          <a:p>
            <a:r>
              <a:rPr lang="ru-RU" sz="1400" b="1" dirty="0" smtClean="0">
                <a:solidFill>
                  <a:schemeClr val="bg1"/>
                </a:solidFill>
              </a:rPr>
              <a:t>2010-е годы: </a:t>
            </a:r>
            <a:r>
              <a:rPr lang="ru-RU" sz="1400" dirty="0" smtClean="0">
                <a:solidFill>
                  <a:schemeClr val="bg1"/>
                </a:solidFill>
              </a:rPr>
              <a:t>Развитие алгоритмов обезличивания и дифференциальной приватности в ответ на рост объема цифровых данных.</a:t>
            </a:r>
          </a:p>
          <a:p>
            <a:r>
              <a:rPr lang="ru-RU" sz="1400" b="1" dirty="0" smtClean="0">
                <a:solidFill>
                  <a:schemeClr val="bg1"/>
                </a:solidFill>
              </a:rPr>
              <a:t>2016</a:t>
            </a:r>
            <a:r>
              <a:rPr lang="ru-RU" sz="1400" b="1" dirty="0">
                <a:solidFill>
                  <a:schemeClr val="bg1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Вступление в силу </a:t>
            </a:r>
            <a:r>
              <a:rPr lang="ru-RU" sz="1400" dirty="0" smtClean="0">
                <a:solidFill>
                  <a:schemeClr val="bg1"/>
                </a:solidFill>
              </a:rPr>
              <a:t>Общего регламента </a:t>
            </a:r>
            <a:r>
              <a:rPr lang="ru-RU" sz="1400" dirty="0">
                <a:solidFill>
                  <a:schemeClr val="bg1"/>
                </a:solidFill>
              </a:rPr>
              <a:t>по защите персональных данных GDPR в </a:t>
            </a:r>
            <a:r>
              <a:rPr lang="ru-RU" sz="1400" dirty="0" smtClean="0">
                <a:solidFill>
                  <a:schemeClr val="bg1"/>
                </a:solidFill>
              </a:rPr>
              <a:t>Европе.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2020-е годы: </a:t>
            </a:r>
            <a:r>
              <a:rPr lang="ru-RU" sz="1400" dirty="0">
                <a:solidFill>
                  <a:schemeClr val="bg1"/>
                </a:solidFill>
              </a:rPr>
              <a:t>Рост популярности технологий машинного обучения и их интеграция в задачи обезличивания данных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2022–2024: </a:t>
            </a:r>
            <a:r>
              <a:rPr lang="ru-RU" sz="1400" dirty="0" err="1">
                <a:solidFill>
                  <a:schemeClr val="bg1"/>
                </a:solidFill>
              </a:rPr>
              <a:t>Санкционные</a:t>
            </a:r>
            <a:r>
              <a:rPr lang="ru-RU" sz="1400" dirty="0">
                <a:solidFill>
                  <a:schemeClr val="bg1"/>
                </a:solidFill>
              </a:rPr>
              <a:t> ограничения и прекращение работы ряда западных технологий в России создали необходимость разработки отечественных решений.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8ACF4DF-4BFD-4C34-A0E2-E2CF4BBF1258}"/>
              </a:ext>
            </a:extLst>
          </p:cNvPr>
          <p:cNvSpPr txBox="1">
            <a:spLocks/>
          </p:cNvSpPr>
          <p:nvPr/>
        </p:nvSpPr>
        <p:spPr>
          <a:xfrm>
            <a:off x="10267103" y="6251255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№8</a:t>
            </a:r>
          </a:p>
        </p:txBody>
      </p:sp>
    </p:spTree>
    <p:extLst>
      <p:ext uri="{BB962C8B-B14F-4D97-AF65-F5344CB8AC3E}">
        <p14:creationId xmlns:p14="http://schemas.microsoft.com/office/powerpoint/2010/main" val="23882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C4050-99ED-4520-8E3E-B230639F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383054"/>
            <a:ext cx="11403106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2. Характеристики магистерской работы</a:t>
            </a:r>
            <a:r>
              <a:rPr lang="ru-RU" sz="4000" dirty="0" smtClean="0">
                <a:solidFill>
                  <a:schemeClr val="bg1"/>
                </a:solidFill>
              </a:rPr>
              <a:t/>
            </a:r>
            <a:br>
              <a:rPr lang="ru-RU" sz="4000" dirty="0" smtClean="0">
                <a:solidFill>
                  <a:schemeClr val="bg1"/>
                </a:solidFill>
              </a:rPr>
            </a:br>
            <a:r>
              <a:rPr lang="ru-RU" sz="4000" dirty="0" smtClean="0">
                <a:solidFill>
                  <a:schemeClr val="bg1"/>
                </a:solidFill>
              </a:rPr>
              <a:t>2.1 Проблематика магистерской </a:t>
            </a:r>
            <a:r>
              <a:rPr lang="ru-RU" sz="4000" dirty="0">
                <a:solidFill>
                  <a:schemeClr val="bg1"/>
                </a:solidFill>
              </a:rPr>
              <a:t>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FADCE3-F1C6-47E3-9110-5F2A0C2DC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151882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bg1"/>
                </a:solidFill>
              </a:rPr>
              <a:t>Тема </a:t>
            </a:r>
            <a:r>
              <a:rPr lang="ru-RU" sz="2400" dirty="0">
                <a:solidFill>
                  <a:schemeClr val="bg1"/>
                </a:solidFill>
              </a:rPr>
              <a:t>магистерской работы </a:t>
            </a:r>
            <a:r>
              <a:rPr lang="ru-RU" sz="2400" dirty="0" smtClean="0">
                <a:solidFill>
                  <a:schemeClr val="bg1"/>
                </a:solidFill>
              </a:rPr>
              <a:t>вызвана в первую очередь </a:t>
            </a:r>
            <a:r>
              <a:rPr lang="ru-RU" sz="2400" dirty="0" err="1" smtClean="0">
                <a:solidFill>
                  <a:schemeClr val="bg1"/>
                </a:solidFill>
              </a:rPr>
              <a:t>санкционными</a:t>
            </a:r>
            <a:r>
              <a:rPr lang="ru-RU" sz="2400" dirty="0" smtClean="0">
                <a:solidFill>
                  <a:schemeClr val="bg1"/>
                </a:solidFill>
              </a:rPr>
              <a:t> ограничениями </a:t>
            </a:r>
            <a:r>
              <a:rPr lang="ru-RU" sz="2400" dirty="0">
                <a:solidFill>
                  <a:schemeClr val="bg1"/>
                </a:solidFill>
              </a:rPr>
              <a:t>и </a:t>
            </a:r>
            <a:r>
              <a:rPr lang="ru-RU" sz="2400" dirty="0" smtClean="0">
                <a:solidFill>
                  <a:schemeClr val="bg1"/>
                </a:solidFill>
              </a:rPr>
              <a:t>закрытым исходным кодом </a:t>
            </a:r>
            <a:r>
              <a:rPr lang="ru-RU" sz="2400" dirty="0">
                <a:solidFill>
                  <a:schemeClr val="bg1"/>
                </a:solidFill>
              </a:rPr>
              <a:t>зарубежных </a:t>
            </a:r>
            <a:r>
              <a:rPr lang="ru-RU" sz="2400" dirty="0" smtClean="0">
                <a:solidFill>
                  <a:schemeClr val="bg1"/>
                </a:solidFill>
              </a:rPr>
              <a:t>решений, которые </a:t>
            </a:r>
            <a:r>
              <a:rPr lang="ru-RU" sz="2400" dirty="0">
                <a:solidFill>
                  <a:schemeClr val="bg1"/>
                </a:solidFill>
              </a:rPr>
              <a:t>создают сложности для российских компаний в использовании современных инструментов обезличивания данных. </a:t>
            </a:r>
            <a:endParaRPr lang="ru-RU" sz="2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Рост объемов цифровых данных увеличивает риск компрометации информации. Эффективные методы обезличивания становятся ключевыми для предотвращения утечек</a:t>
            </a:r>
            <a:r>
              <a:rPr lang="ru-RU" sz="24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Для этого необходимо рассмотреть эффективность методов машинного обучения </a:t>
            </a:r>
            <a:r>
              <a:rPr lang="ru-RU" sz="2400" dirty="0" smtClean="0">
                <a:solidFill>
                  <a:schemeClr val="bg1"/>
                </a:solidFill>
              </a:rPr>
              <a:t>для решений задач обезличивания </a:t>
            </a:r>
            <a:r>
              <a:rPr lang="ru-RU" sz="2400" dirty="0" smtClean="0">
                <a:solidFill>
                  <a:schemeClr val="bg1"/>
                </a:solidFill>
              </a:rPr>
              <a:t>данных</a:t>
            </a:r>
            <a:r>
              <a:rPr lang="ru-RU" sz="24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ru-RU" sz="2400" dirty="0" smtClean="0">
              <a:solidFill>
                <a:schemeClr val="bg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8FAA5E2-A947-4346-87B5-357861E48B44}"/>
              </a:ext>
            </a:extLst>
          </p:cNvPr>
          <p:cNvSpPr txBox="1">
            <a:spLocks/>
          </p:cNvSpPr>
          <p:nvPr/>
        </p:nvSpPr>
        <p:spPr>
          <a:xfrm>
            <a:off x="10159527" y="6176963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№7</a:t>
            </a:r>
          </a:p>
        </p:txBody>
      </p:sp>
    </p:spTree>
    <p:extLst>
      <p:ext uri="{BB962C8B-B14F-4D97-AF65-F5344CB8AC3E}">
        <p14:creationId xmlns:p14="http://schemas.microsoft.com/office/powerpoint/2010/main" val="52945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73F1A-CAF8-4BE0-AF18-DB89C4FA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798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2.2 Обоснование актуальности МР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F37D55-1AB6-4E61-B6C6-C8854080E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4"/>
            <a:ext cx="10515600" cy="4647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chemeClr val="bg1"/>
                </a:solidFill>
              </a:rPr>
              <a:t>Обоснование актуальности направления исследования </a:t>
            </a:r>
            <a:r>
              <a:rPr lang="en-US" sz="1600" dirty="0">
                <a:solidFill>
                  <a:schemeClr val="bg1"/>
                </a:solidFill>
              </a:rPr>
              <a:t>: </a:t>
            </a:r>
            <a:endParaRPr lang="ru-RU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А</a:t>
            </a:r>
            <a:r>
              <a:rPr lang="ru-RU" sz="1600" dirty="0" smtClean="0">
                <a:solidFill>
                  <a:schemeClr val="bg1"/>
                </a:solidFill>
              </a:rPr>
              <a:t>ктуальность </a:t>
            </a:r>
            <a:r>
              <a:rPr lang="ru-RU" sz="1600" dirty="0" smtClean="0">
                <a:solidFill>
                  <a:schemeClr val="bg1"/>
                </a:solidFill>
              </a:rPr>
              <a:t>исследования обуславливается</a:t>
            </a:r>
            <a:r>
              <a:rPr lang="ru-RU" sz="1600" dirty="0">
                <a:solidFill>
                  <a:schemeClr val="bg1"/>
                </a:solidFill>
              </a:rPr>
              <a:t> </a:t>
            </a:r>
            <a:r>
              <a:rPr lang="ru-RU" sz="1600" dirty="0" smtClean="0">
                <a:solidFill>
                  <a:schemeClr val="bg1"/>
                </a:solidFill>
              </a:rPr>
              <a:t>необходимостью </a:t>
            </a:r>
            <a:r>
              <a:rPr lang="ru-RU" sz="1600" dirty="0">
                <a:solidFill>
                  <a:schemeClr val="bg1"/>
                </a:solidFill>
              </a:rPr>
              <a:t>разработки конкурентоспособного, открытого и </a:t>
            </a:r>
            <a:r>
              <a:rPr lang="ru-RU" sz="1600" dirty="0" smtClean="0">
                <a:solidFill>
                  <a:schemeClr val="bg1"/>
                </a:solidFill>
              </a:rPr>
              <a:t>независимого </a:t>
            </a:r>
            <a:r>
              <a:rPr lang="ru-RU" sz="1600" dirty="0">
                <a:solidFill>
                  <a:schemeClr val="bg1"/>
                </a:solidFill>
              </a:rPr>
              <a:t>отечественного решения, соответствующего требованиям защиты персональных данных.</a:t>
            </a:r>
          </a:p>
          <a:p>
            <a:pPr marL="0" indent="0">
              <a:buNone/>
            </a:pPr>
            <a:r>
              <a:rPr lang="ru-RU" sz="1600" dirty="0" smtClean="0">
                <a:solidFill>
                  <a:schemeClr val="bg1"/>
                </a:solidFill>
              </a:rPr>
              <a:t>Исследование, ориентированное на улучшение эффективности обезличивания данных посредством методов машинного обучения, удовлетворяет актуальным потребностям бизнеса и общества. </a:t>
            </a:r>
          </a:p>
          <a:p>
            <a:pPr marL="0" indent="0">
              <a:buNone/>
            </a:pPr>
            <a:r>
              <a:rPr lang="ru-RU" sz="1600" b="1" dirty="0" smtClean="0">
                <a:solidFill>
                  <a:schemeClr val="bg1"/>
                </a:solidFill>
              </a:rPr>
              <a:t>Обоснование </a:t>
            </a:r>
            <a:r>
              <a:rPr lang="ru-RU" sz="1600" b="1" dirty="0">
                <a:solidFill>
                  <a:schemeClr val="bg1"/>
                </a:solidFill>
              </a:rPr>
              <a:t>актуальности </a:t>
            </a:r>
            <a:r>
              <a:rPr lang="ru-RU" sz="1600" b="1" kern="0" dirty="0">
                <a:solidFill>
                  <a:schemeClr val="bg1"/>
                </a:solidFill>
              </a:rPr>
              <a:t>предполагаемой</a:t>
            </a:r>
            <a:r>
              <a:rPr lang="ru-RU" sz="1600" b="1" i="1" kern="0" dirty="0">
                <a:solidFill>
                  <a:schemeClr val="bg1"/>
                </a:solidFill>
              </a:rPr>
              <a:t> разработки </a:t>
            </a:r>
            <a:r>
              <a:rPr lang="en-US" sz="1600" b="1" dirty="0">
                <a:solidFill>
                  <a:schemeClr val="bg1"/>
                </a:solidFill>
              </a:rPr>
              <a:t>: </a:t>
            </a:r>
            <a:endParaRPr lang="ru-RU" sz="1600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dirty="0" smtClean="0">
                <a:solidFill>
                  <a:schemeClr val="bg1"/>
                </a:solidFill>
              </a:rPr>
              <a:t>Разработка </a:t>
            </a:r>
            <a:r>
              <a:rPr lang="ru-RU" sz="1600" dirty="0">
                <a:solidFill>
                  <a:schemeClr val="bg1"/>
                </a:solidFill>
              </a:rPr>
              <a:t>ориентирована на решение актуальной и широко распространённой проблемы. Её внедрение позволит компаниям </a:t>
            </a:r>
            <a:r>
              <a:rPr lang="ru-RU" sz="1600" dirty="0" smtClean="0">
                <a:solidFill>
                  <a:schemeClr val="bg1"/>
                </a:solidFill>
              </a:rPr>
              <a:t>снизить </a:t>
            </a:r>
            <a:r>
              <a:rPr lang="ru-RU" sz="1600" dirty="0">
                <a:solidFill>
                  <a:schemeClr val="bg1"/>
                </a:solidFill>
              </a:rPr>
              <a:t>зависимость от зарубежных решений, недоступных в условиях санкций. Модуль может быть внедрен в </a:t>
            </a:r>
            <a:r>
              <a:rPr lang="ru-RU" sz="1600" dirty="0" smtClean="0">
                <a:solidFill>
                  <a:schemeClr val="bg1"/>
                </a:solidFill>
              </a:rPr>
              <a:t>компании, </a:t>
            </a:r>
            <a:r>
              <a:rPr lang="ru-RU" sz="1600" dirty="0">
                <a:solidFill>
                  <a:schemeClr val="bg1"/>
                </a:solidFill>
              </a:rPr>
              <a:t>работающих с </a:t>
            </a:r>
            <a:r>
              <a:rPr lang="ru-RU" sz="1600" dirty="0" smtClean="0">
                <a:solidFill>
                  <a:schemeClr val="bg1"/>
                </a:solidFill>
              </a:rPr>
              <a:t>данных </a:t>
            </a:r>
            <a:r>
              <a:rPr lang="ru-RU" sz="1600" dirty="0">
                <a:solidFill>
                  <a:schemeClr val="bg1"/>
                </a:solidFill>
              </a:rPr>
              <a:t>(банки, ритейл, медицина), для минимизации рисков утечки информации.</a:t>
            </a:r>
            <a:endParaRPr lang="ru-RU" sz="1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b="1" dirty="0">
                <a:solidFill>
                  <a:schemeClr val="bg1"/>
                </a:solidFill>
              </a:rPr>
              <a:t>Объектом исследования </a:t>
            </a:r>
            <a:r>
              <a:rPr lang="ru-RU" sz="1600" dirty="0">
                <a:solidFill>
                  <a:schemeClr val="bg1"/>
                </a:solidFill>
              </a:rPr>
              <a:t>являются методы обезличивания персональных данных. 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bg1"/>
                </a:solidFill>
              </a:rPr>
              <a:t>Предметом исследования </a:t>
            </a:r>
            <a:r>
              <a:rPr lang="ru-RU" sz="1600" dirty="0">
                <a:solidFill>
                  <a:schemeClr val="bg1"/>
                </a:solidFill>
              </a:rPr>
              <a:t>является процесс обезличивания персональных данных с целью исключения прямой или косвенной идентификации отдельных субъектов с сохранением при этом ценности и полезности данных для последующего использования.</a:t>
            </a:r>
          </a:p>
          <a:p>
            <a:pPr marL="0" indent="0"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7381AC7-6CD9-4B07-BE8F-9FF7213B799E}"/>
              </a:ext>
            </a:extLst>
          </p:cNvPr>
          <p:cNvSpPr txBox="1">
            <a:spLocks/>
          </p:cNvSpPr>
          <p:nvPr/>
        </p:nvSpPr>
        <p:spPr>
          <a:xfrm>
            <a:off x="9998162" y="6176963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№9</a:t>
            </a:r>
          </a:p>
        </p:txBody>
      </p:sp>
    </p:spTree>
    <p:extLst>
      <p:ext uri="{BB962C8B-B14F-4D97-AF65-F5344CB8AC3E}">
        <p14:creationId xmlns:p14="http://schemas.microsoft.com/office/powerpoint/2010/main" val="367890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C4050-99ED-4520-8E3E-B230639F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383054"/>
            <a:ext cx="11403106" cy="1325563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2.3</a:t>
            </a:r>
            <a:r>
              <a:rPr lang="en-US" sz="4000" dirty="0" smtClean="0">
                <a:solidFill>
                  <a:schemeClr val="bg1"/>
                </a:solidFill>
              </a:rPr>
              <a:t> </a:t>
            </a:r>
            <a:r>
              <a:rPr lang="ru-RU" sz="4000" dirty="0">
                <a:solidFill>
                  <a:schemeClr val="bg1"/>
                </a:solidFill>
              </a:rPr>
              <a:t>Исходная и скорректированная цель МР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FADCE3-F1C6-47E3-9110-5F2A0C2DC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Исходная цель магистерской работы </a:t>
            </a:r>
            <a:r>
              <a:rPr lang="ru-RU" dirty="0" smtClean="0">
                <a:solidFill>
                  <a:schemeClr val="bg1"/>
                </a:solidFill>
              </a:rPr>
              <a:t>остаётся неизменной, потому что она отражает основную задачу исследования </a:t>
            </a:r>
            <a:r>
              <a:rPr lang="ru-RU" dirty="0">
                <a:solidFill>
                  <a:schemeClr val="bg1"/>
                </a:solidFill>
              </a:rPr>
              <a:t>— </a:t>
            </a:r>
            <a:r>
              <a:rPr lang="ru-RU" dirty="0" smtClean="0">
                <a:solidFill>
                  <a:schemeClr val="bg1"/>
                </a:solidFill>
              </a:rPr>
              <a:t>разработать </a:t>
            </a:r>
            <a:r>
              <a:rPr lang="ru-RU" dirty="0">
                <a:solidFill>
                  <a:schemeClr val="bg1"/>
                </a:solidFill>
              </a:rPr>
              <a:t>модуль обезличивания данных, включающий современные методы защиты информации, с возможностью адаптации к различным типам данных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Методы реализации, такие </a:t>
            </a:r>
            <a:r>
              <a:rPr lang="ru-RU" dirty="0">
                <a:solidFill>
                  <a:schemeClr val="bg1"/>
                </a:solidFill>
              </a:rPr>
              <a:t>как </a:t>
            </a:r>
            <a:r>
              <a:rPr lang="ru-RU" dirty="0" smtClean="0">
                <a:solidFill>
                  <a:schemeClr val="bg1"/>
                </a:solidFill>
              </a:rPr>
              <a:t>анализ </a:t>
            </a:r>
            <a:r>
              <a:rPr lang="ru-RU" dirty="0">
                <a:solidFill>
                  <a:schemeClr val="bg1"/>
                </a:solidFill>
              </a:rPr>
              <a:t>и классификация существующих алгоритмов, программирование модуля, экспериментальное тестирование, </a:t>
            </a:r>
            <a:r>
              <a:rPr lang="ru-RU" dirty="0" smtClean="0">
                <a:solidFill>
                  <a:schemeClr val="bg1"/>
                </a:solidFill>
              </a:rPr>
              <a:t>сравнительный </a:t>
            </a:r>
            <a:r>
              <a:rPr lang="ru-RU" dirty="0">
                <a:solidFill>
                  <a:schemeClr val="bg1"/>
                </a:solidFill>
              </a:rPr>
              <a:t>анализ </a:t>
            </a:r>
            <a:r>
              <a:rPr lang="ru-RU" dirty="0" smtClean="0">
                <a:solidFill>
                  <a:schemeClr val="bg1"/>
                </a:solidFill>
              </a:rPr>
              <a:t>являются инструментами, которые помогают достичь этой цели и подтвердить её актуальность на практике.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8FAA5E2-A947-4346-87B5-357861E48B44}"/>
              </a:ext>
            </a:extLst>
          </p:cNvPr>
          <p:cNvSpPr txBox="1">
            <a:spLocks/>
          </p:cNvSpPr>
          <p:nvPr/>
        </p:nvSpPr>
        <p:spPr>
          <a:xfrm>
            <a:off x="10159527" y="6176963"/>
            <a:ext cx="1745604" cy="4832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№7</a:t>
            </a:r>
          </a:p>
        </p:txBody>
      </p:sp>
    </p:spTree>
    <p:extLst>
      <p:ext uri="{BB962C8B-B14F-4D97-AF65-F5344CB8AC3E}">
        <p14:creationId xmlns:p14="http://schemas.microsoft.com/office/powerpoint/2010/main" val="1736818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1E3FD-94A7-4B6B-8C47-17D978DD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bg1"/>
                </a:solidFill>
              </a:rPr>
              <a:t>3</a:t>
            </a:r>
            <a:r>
              <a:rPr lang="en-US" sz="3200" dirty="0" smtClean="0">
                <a:solidFill>
                  <a:schemeClr val="bg1"/>
                </a:solidFill>
              </a:rPr>
              <a:t>.</a:t>
            </a:r>
            <a:r>
              <a:rPr lang="ru-RU" sz="3200" dirty="0" smtClean="0">
                <a:solidFill>
                  <a:schemeClr val="bg1"/>
                </a:solidFill>
              </a:rPr>
              <a:t> </a:t>
            </a:r>
            <a:r>
              <a:rPr lang="ru-RU" sz="3200" dirty="0">
                <a:solidFill>
                  <a:schemeClr val="bg1"/>
                </a:solidFill>
              </a:rPr>
              <a:t>Задачи и планируемые результаты магистерской работы</a:t>
            </a:r>
            <a:br>
              <a:rPr lang="ru-RU" sz="3200" dirty="0">
                <a:solidFill>
                  <a:schemeClr val="bg1"/>
                </a:solidFill>
              </a:rPr>
            </a:br>
            <a:r>
              <a:rPr lang="ru-RU" sz="3200" dirty="0" smtClean="0">
                <a:solidFill>
                  <a:schemeClr val="bg1"/>
                </a:solidFill>
              </a:rPr>
              <a:t>3.1 </a:t>
            </a:r>
            <a:r>
              <a:rPr lang="ru-RU" sz="3200" dirty="0">
                <a:solidFill>
                  <a:schemeClr val="bg1"/>
                </a:solidFill>
              </a:rPr>
              <a:t>Теоретические исследования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8DD992F-B7C7-4CBF-9399-B755F0333B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046301"/>
              </p:ext>
            </p:extLst>
          </p:nvPr>
        </p:nvGraphicFramePr>
        <p:xfrm>
          <a:off x="264366" y="1521505"/>
          <a:ext cx="11663267" cy="4142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746">
                  <a:extLst>
                    <a:ext uri="{9D8B030D-6E8A-4147-A177-3AD203B41FA5}">
                      <a16:colId xmlns:a16="http://schemas.microsoft.com/office/drawing/2014/main" val="36504427"/>
                    </a:ext>
                  </a:extLst>
                </a:gridCol>
                <a:gridCol w="2142741">
                  <a:extLst>
                    <a:ext uri="{9D8B030D-6E8A-4147-A177-3AD203B41FA5}">
                      <a16:colId xmlns:a16="http://schemas.microsoft.com/office/drawing/2014/main" val="2418857228"/>
                    </a:ext>
                  </a:extLst>
                </a:gridCol>
                <a:gridCol w="2231415">
                  <a:extLst>
                    <a:ext uri="{9D8B030D-6E8A-4147-A177-3AD203B41FA5}">
                      <a16:colId xmlns:a16="http://schemas.microsoft.com/office/drawing/2014/main" val="3058844832"/>
                    </a:ext>
                  </a:extLst>
                </a:gridCol>
                <a:gridCol w="3105548">
                  <a:extLst>
                    <a:ext uri="{9D8B030D-6E8A-4147-A177-3AD203B41FA5}">
                      <a16:colId xmlns:a16="http://schemas.microsoft.com/office/drawing/2014/main" val="715937843"/>
                    </a:ext>
                  </a:extLst>
                </a:gridCol>
                <a:gridCol w="2915817">
                  <a:extLst>
                    <a:ext uri="{9D8B030D-6E8A-4147-A177-3AD203B41FA5}">
                      <a16:colId xmlns:a16="http://schemas.microsoft.com/office/drawing/2014/main" val="1182326645"/>
                    </a:ext>
                  </a:extLst>
                </a:gridCol>
              </a:tblGrid>
              <a:tr h="1014728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№ Задачи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Задача 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mtClean="0"/>
                        <a:t>Виды исследований на различных этапах работы</a:t>
                      </a:r>
                      <a:endParaRPr lang="ru-RU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Предполагаемые результаты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Способ обоснования достоверности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432523"/>
                  </a:ext>
                </a:extLst>
              </a:tr>
              <a:tr h="1080354"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1.1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Анализ существующих алгоритмов обезличивания.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smtClean="0"/>
                        <a:t>Теоретический анализ, изучение литературы и нормативных требований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Обзор существующих алгоритмов, классификация методов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Сравнительный анализ, библиографический обзор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005888"/>
                  </a:ext>
                </a:extLst>
              </a:tr>
              <a:tr h="1110927">
                <a:tc>
                  <a:txBody>
                    <a:bodyPr/>
                    <a:lstStyle/>
                    <a:p>
                      <a:pPr algn="ctr"/>
                      <a:r>
                        <a:rPr lang="ru-RU" sz="1600" smtClean="0"/>
                        <a:t>1.</a:t>
                      </a:r>
                      <a:r>
                        <a:rPr lang="en-US" sz="1600" smtClean="0"/>
                        <a:t>2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Разработка критериев оценки эффективности обезличивания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Теоретическое моделирование, эмпирические исследования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Критерии оценки, включающие метрики безопасности и сохранения аналитической ценности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Эксперименты на разных наборах данных, </a:t>
                      </a:r>
                      <a:r>
                        <a:rPr lang="ru-RU" sz="1600" dirty="0" err="1" smtClean="0"/>
                        <a:t>валидация</a:t>
                      </a:r>
                      <a:r>
                        <a:rPr lang="ru-RU" sz="1600" dirty="0" smtClean="0"/>
                        <a:t> на реальных кейсах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616809"/>
                  </a:ext>
                </a:extLst>
              </a:tr>
              <a:tr h="936664">
                <a:tc>
                  <a:txBody>
                    <a:bodyPr/>
                    <a:lstStyle/>
                    <a:p>
                      <a:pPr algn="ctr"/>
                      <a:r>
                        <a:rPr lang="ru-RU" sz="1600" smtClean="0"/>
                        <a:t>1.3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Реализация методов обезличивания данных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Инженерная разработка, программирование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Прототип модуля с реализованными методами обезличивания данных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Функциональное и нагрузочное тестирование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867779"/>
                  </a:ext>
                </a:extLst>
              </a:tr>
            </a:tbl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99ABEC6-B47B-4FE6-A4C6-135FBD5A0C72}"/>
              </a:ext>
            </a:extLst>
          </p:cNvPr>
          <p:cNvSpPr txBox="1">
            <a:spLocks/>
          </p:cNvSpPr>
          <p:nvPr/>
        </p:nvSpPr>
        <p:spPr>
          <a:xfrm>
            <a:off x="10365714" y="6194613"/>
            <a:ext cx="1933861" cy="6633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 №10</a:t>
            </a:r>
          </a:p>
        </p:txBody>
      </p:sp>
    </p:spTree>
    <p:extLst>
      <p:ext uri="{BB962C8B-B14F-4D97-AF65-F5344CB8AC3E}">
        <p14:creationId xmlns:p14="http://schemas.microsoft.com/office/powerpoint/2010/main" val="214473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447F9-53F5-4AAE-9447-7555A2FA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506"/>
            <a:ext cx="12801600" cy="1325563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bg1"/>
                </a:solidFill>
              </a:rPr>
              <a:t>3</a:t>
            </a:r>
            <a:r>
              <a:rPr lang="en-US" sz="3200" dirty="0" smtClean="0">
                <a:solidFill>
                  <a:schemeClr val="bg1"/>
                </a:solidFill>
              </a:rPr>
              <a:t>.</a:t>
            </a:r>
            <a:r>
              <a:rPr lang="ru-RU" sz="3200" dirty="0">
                <a:solidFill>
                  <a:schemeClr val="bg1"/>
                </a:solidFill>
              </a:rPr>
              <a:t>2 Проектно-конструкторская и технологическая работа </a:t>
            </a:r>
            <a:br>
              <a:rPr lang="ru-RU" sz="3200" dirty="0">
                <a:solidFill>
                  <a:schemeClr val="bg1"/>
                </a:solidFill>
              </a:rPr>
            </a:br>
            <a:endParaRPr lang="ru-RU" sz="3200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5DD7595-996C-4C0D-8D03-D498868C9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770046"/>
              </p:ext>
            </p:extLst>
          </p:nvPr>
        </p:nvGraphicFramePr>
        <p:xfrm>
          <a:off x="251927" y="614979"/>
          <a:ext cx="11653933" cy="5788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418">
                  <a:extLst>
                    <a:ext uri="{9D8B030D-6E8A-4147-A177-3AD203B41FA5}">
                      <a16:colId xmlns:a16="http://schemas.microsoft.com/office/drawing/2014/main" val="3680007081"/>
                    </a:ext>
                  </a:extLst>
                </a:gridCol>
                <a:gridCol w="1758522">
                  <a:extLst>
                    <a:ext uri="{9D8B030D-6E8A-4147-A177-3AD203B41FA5}">
                      <a16:colId xmlns:a16="http://schemas.microsoft.com/office/drawing/2014/main" val="2374740114"/>
                    </a:ext>
                  </a:extLst>
                </a:gridCol>
                <a:gridCol w="2140962">
                  <a:extLst>
                    <a:ext uri="{9D8B030D-6E8A-4147-A177-3AD203B41FA5}">
                      <a16:colId xmlns:a16="http://schemas.microsoft.com/office/drawing/2014/main" val="2392726990"/>
                    </a:ext>
                  </a:extLst>
                </a:gridCol>
                <a:gridCol w="3154474">
                  <a:extLst>
                    <a:ext uri="{9D8B030D-6E8A-4147-A177-3AD203B41FA5}">
                      <a16:colId xmlns:a16="http://schemas.microsoft.com/office/drawing/2014/main" val="1194380145"/>
                    </a:ext>
                  </a:extLst>
                </a:gridCol>
                <a:gridCol w="3591557">
                  <a:extLst>
                    <a:ext uri="{9D8B030D-6E8A-4147-A177-3AD203B41FA5}">
                      <a16:colId xmlns:a16="http://schemas.microsoft.com/office/drawing/2014/main" val="4136525140"/>
                    </a:ext>
                  </a:extLst>
                </a:gridCol>
              </a:tblGrid>
              <a:tr h="12617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№ 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Задача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Виды работы на различных этапах работы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</a:rPr>
                        <a:t>Полученные результаты</a:t>
                      </a:r>
                      <a:endParaRPr lang="ru-RU" sz="16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Наличие обоснования выбора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 / Характеристика достоверности</a:t>
                      </a:r>
                      <a:endParaRPr lang="ru-RU" sz="16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297953"/>
                  </a:ext>
                </a:extLst>
              </a:tr>
              <a:tr h="126177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Разработка алгоритма обезличивания данных на основе нейронных сетей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Теоретические исследования, разработка модели, обучение и тестирование сети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Алгоритм, обеспечивающий адаптивное обезличивание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Тестирование на синтетических и реальных наборах данных, сравнение с существующими методами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487988"/>
                  </a:ext>
                </a:extLst>
              </a:tr>
              <a:tr h="195383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Оценка производительности и качества обезличивания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Экспериментальные исследования, сравнительный анализ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Отчет о производительности модуля, сравнение алгоритмов по эффективности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Тестирование на стандартных тестовых наборах и бизнес-данных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339854"/>
                  </a:ext>
                </a:extLst>
              </a:tr>
              <a:tr h="126177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Формулировка рекомендаций по внедрению модуля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Практические исследования, анализ требований бизнеса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Рекомендации по внедрению и использованию модуля в различных условиях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Интервью с экспертами, анализ обратной связи после тестирования</a:t>
                      </a:r>
                      <a:endParaRPr lang="ru-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938514"/>
                  </a:ext>
                </a:extLst>
              </a:tr>
            </a:tbl>
          </a:graphicData>
        </a:graphic>
      </p:graphicFrame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EF839C6F-53D8-4C05-AC85-D8E6C9CBFED6}"/>
              </a:ext>
            </a:extLst>
          </p:cNvPr>
          <p:cNvSpPr txBox="1">
            <a:spLocks/>
          </p:cNvSpPr>
          <p:nvPr/>
        </p:nvSpPr>
        <p:spPr>
          <a:xfrm>
            <a:off x="10222278" y="6243022"/>
            <a:ext cx="1969721" cy="6044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№11</a:t>
            </a:r>
          </a:p>
        </p:txBody>
      </p:sp>
    </p:spTree>
    <p:extLst>
      <p:ext uri="{BB962C8B-B14F-4D97-AF65-F5344CB8AC3E}">
        <p14:creationId xmlns:p14="http://schemas.microsoft.com/office/powerpoint/2010/main" val="4042383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0C979-081D-438C-98DB-6D14A836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4. </a:t>
            </a:r>
            <a:r>
              <a:rPr lang="ru-RU" sz="4000" dirty="0">
                <a:solidFill>
                  <a:schemeClr val="bg1"/>
                </a:solidFill>
              </a:rPr>
              <a:t>Ожидаемый результат магистерской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5A4C0-2C2C-4454-9592-D81053726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Ожидаемая научная новизна работы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ru-RU" dirty="0">
                <a:solidFill>
                  <a:schemeClr val="bg1"/>
                </a:solidFill>
              </a:rPr>
              <a:t>в результате работы будут </a:t>
            </a:r>
            <a:r>
              <a:rPr lang="ru-RU" dirty="0" smtClean="0">
                <a:solidFill>
                  <a:schemeClr val="bg1"/>
                </a:solidFill>
              </a:rPr>
              <a:t>разработан и оценен алгоритмы обезличивания данных на основе искусственных нейронных сетей.</a:t>
            </a: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Ожидаемая практическая новизна работы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разработка </a:t>
            </a:r>
            <a:r>
              <a:rPr lang="ru-RU" dirty="0">
                <a:solidFill>
                  <a:schemeClr val="bg1"/>
                </a:solidFill>
              </a:rPr>
              <a:t>практического инструментария для автоматизации процесса обезличивания, включающего выбор оптимального алгоритма в зависимости от типа и объема данных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Рекомендации </a:t>
            </a:r>
            <a:r>
              <a:rPr lang="ru-RU" dirty="0">
                <a:solidFill>
                  <a:schemeClr val="bg1"/>
                </a:solidFill>
              </a:rPr>
              <a:t>по </a:t>
            </a:r>
            <a:r>
              <a:rPr lang="ru-RU" dirty="0" smtClean="0">
                <a:solidFill>
                  <a:schemeClr val="bg1"/>
                </a:solidFill>
              </a:rPr>
              <a:t>внедрению модуля обезличивания данных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8514700C-3617-44D9-9232-1B62B7B0FB28}"/>
              </a:ext>
            </a:extLst>
          </p:cNvPr>
          <p:cNvSpPr txBox="1">
            <a:spLocks/>
          </p:cNvSpPr>
          <p:nvPr/>
        </p:nvSpPr>
        <p:spPr>
          <a:xfrm>
            <a:off x="10105737" y="6176964"/>
            <a:ext cx="1915933" cy="56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№13</a:t>
            </a:r>
          </a:p>
        </p:txBody>
      </p:sp>
    </p:spTree>
    <p:extLst>
      <p:ext uri="{BB962C8B-B14F-4D97-AF65-F5344CB8AC3E}">
        <p14:creationId xmlns:p14="http://schemas.microsoft.com/office/powerpoint/2010/main" val="18547950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1422</Words>
  <Application>Microsoft Office PowerPoint</Application>
  <PresentationFormat>Широкоэкранный</PresentationFormat>
  <Paragraphs>223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ElsevierSans</vt:lpstr>
      <vt:lpstr>Times New Roman</vt:lpstr>
      <vt:lpstr>Тема Office</vt:lpstr>
      <vt:lpstr>Презентация PowerPoint</vt:lpstr>
      <vt:lpstr>1. Cписок и характеристика источников 1.1 Список источников</vt:lpstr>
      <vt:lpstr>1.2. Характеристика источников  1.2.1 Географическое положение и сферы публикаций </vt:lpstr>
      <vt:lpstr>1.2.2 Год публикации источников</vt:lpstr>
      <vt:lpstr>1.3 Анализ существующих систем 1.3.1 Общая таблица</vt:lpstr>
      <vt:lpstr> </vt:lpstr>
      <vt:lpstr>1.4 Выводы по аналитическому обзору</vt:lpstr>
      <vt:lpstr>2. Характеристики магистерской работы 2.1 Проблематика магистерской работы</vt:lpstr>
      <vt:lpstr>2.2 Обоснование актуальности МР</vt:lpstr>
      <vt:lpstr>2.3 Исходная и скорректированная цель МР</vt:lpstr>
      <vt:lpstr>3. Задачи и планируемые результаты магистерской работы 3.1 Теоретические исследования</vt:lpstr>
      <vt:lpstr>3.2 Проектно-конструкторская и технологическая работа  </vt:lpstr>
      <vt:lpstr>4. Ожидаемый результат магистерской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Sollevar</dc:creator>
  <cp:lastModifiedBy>Саныч Сан</cp:lastModifiedBy>
  <cp:revision>196</cp:revision>
  <dcterms:created xsi:type="dcterms:W3CDTF">2024-12-03T09:05:19Z</dcterms:created>
  <dcterms:modified xsi:type="dcterms:W3CDTF">2024-12-24T02:19:09Z</dcterms:modified>
</cp:coreProperties>
</file>