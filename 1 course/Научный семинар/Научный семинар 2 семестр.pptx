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73" r:id="rId3"/>
    <p:sldId id="262" r:id="rId4"/>
    <p:sldId id="263" r:id="rId5"/>
    <p:sldId id="264" r:id="rId6"/>
    <p:sldId id="274" r:id="rId7"/>
    <p:sldId id="295" r:id="rId8"/>
    <p:sldId id="292" r:id="rId9"/>
    <p:sldId id="294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B060402020202020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517" userDrawn="1">
          <p15:clr>
            <a:srgbClr val="A4A3A4"/>
          </p15:clr>
        </p15:guide>
        <p15:guide id="3" pos="249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5" orient="horz" pos="299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7D42F8-4E86-10F8-7062-6A8B1A5CAD9E}" name="Павел Фатьянов" initials="ПФ" userId="35cf70301ae713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1C33"/>
    <a:srgbClr val="CC0000"/>
    <a:srgbClr val="0F8259"/>
    <a:srgbClr val="BD0040"/>
    <a:srgbClr val="920000"/>
    <a:srgbClr val="0C5C2C"/>
    <a:srgbClr val="A50021"/>
    <a:srgbClr val="A2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8" autoAdjust="0"/>
  </p:normalViewPr>
  <p:slideViewPr>
    <p:cSldViewPr>
      <p:cViewPr>
        <p:scale>
          <a:sx n="66" d="100"/>
          <a:sy n="66" d="100"/>
        </p:scale>
        <p:origin x="974" y="288"/>
      </p:cViewPr>
      <p:guideLst>
        <p:guide orient="horz" pos="1620"/>
        <p:guide pos="2517"/>
        <p:guide pos="249"/>
        <p:guide orient="horz" pos="259"/>
        <p:guide orient="horz" pos="29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EEB8F-F394-42F5-9650-2EDD3D430F7F}" type="datetimeFigureOut">
              <a:rPr lang="ru-RU" smtClean="0"/>
              <a:pPr/>
              <a:t>03.06.2025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186AA-97E8-4BC6-880E-337DD9C7C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/>
          <p:cNvSpPr>
            <a:spLocks noGrp="1"/>
          </p:cNvSpPr>
          <p:nvPr>
            <p:ph type="body" sz="quarter" idx="10"/>
          </p:nvPr>
        </p:nvSpPr>
        <p:spPr>
          <a:xfrm>
            <a:off x="467544" y="357172"/>
            <a:ext cx="5857894" cy="914400"/>
          </a:xfrm>
          <a:prstGeom prst="rect">
            <a:avLst/>
          </a:prstGeom>
        </p:spPr>
        <p:txBody>
          <a:bodyPr/>
          <a:lstStyle>
            <a:lvl1pPr marL="88900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2925" indent="-85725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73025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20825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85950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4714890"/>
            <a:ext cx="9144000" cy="428628"/>
          </a:xfrm>
          <a:prstGeom prst="rect">
            <a:avLst/>
          </a:prstGeom>
          <a:solidFill>
            <a:srgbClr val="781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8215338" y="4857768"/>
            <a:ext cx="857256" cy="1428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www.nstu.ru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838085"/>
            <a:ext cx="607118" cy="1958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5"/>
        </a:buBlip>
        <a:defRPr sz="20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4659982"/>
            <a:ext cx="9144000" cy="483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5143504" y="0"/>
            <a:ext cx="4000496" cy="21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143504" y="4714890"/>
            <a:ext cx="4000496" cy="428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140295" y="426724"/>
            <a:ext cx="5669832" cy="868303"/>
          </a:xfrm>
          <a:prstGeom prst="rect">
            <a:avLst/>
          </a:prstGeom>
        </p:spPr>
        <p:txBody>
          <a:bodyPr vert="horz" lIns="0" tIns="0" rIns="0" bIns="0" rtlCol="0" anchor="t">
            <a:normAutofit fontScale="97500"/>
          </a:bodyPr>
          <a:lstStyle/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r>
              <a:rPr lang="ru-RU" b="1" dirty="0" smtClean="0"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Обобщенный доклад по результатам работы над магистерской диссертацией (1 год обучения)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84" y="2025948"/>
            <a:ext cx="8139256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3200" b="1" dirty="0" smtClean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Разработка </a:t>
            </a:r>
            <a:r>
              <a:rPr lang="ru-RU" sz="3200" b="1" dirty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модуля </a:t>
            </a:r>
            <a:r>
              <a:rPr lang="ru-RU" sz="3200" b="1" dirty="0" err="1" smtClean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анонимизации</a:t>
            </a:r>
            <a:r>
              <a:rPr lang="ru-RU" sz="3200" b="1" dirty="0" smtClean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 </a:t>
            </a:r>
            <a:r>
              <a:rPr lang="ru-RU" sz="3200" b="1" dirty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системы обезличивания </a:t>
            </a:r>
            <a:r>
              <a:rPr lang="ru-RU" sz="3200" b="1" dirty="0" smtClean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данных</a:t>
            </a:r>
            <a:endParaRPr lang="ru-RU" sz="3200" b="1" dirty="0">
              <a:solidFill>
                <a:srgbClr val="781C33"/>
              </a:solidFill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84" y="414493"/>
            <a:ext cx="2020531" cy="6527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8444" y="1209025"/>
            <a:ext cx="260938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i="1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Кафедра вычислительной техники</a:t>
            </a:r>
            <a:endParaRPr lang="ru-RU" sz="1200" i="1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1927" y="3643090"/>
            <a:ext cx="66779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Презентация обсуждена и согласована с научным руководителем</a:t>
            </a:r>
            <a:endParaRPr lang="ru-RU" sz="1600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8444" y="4200868"/>
            <a:ext cx="304142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600" b="1" dirty="0" err="1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Ириков</a:t>
            </a:r>
            <a:r>
              <a:rPr lang="ru-RU" sz="1600" b="1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 Евгений Алексеевич</a:t>
            </a:r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/>
            </a:r>
            <a:b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</a:br>
            <a:r>
              <a:rPr lang="ru-RU" sz="1600" dirty="0" err="1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Магстрант</a:t>
            </a:r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 группы АММ2-24</a:t>
            </a:r>
            <a:endParaRPr lang="ru-RU" sz="1600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2040" y="4200868"/>
            <a:ext cx="400049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600" b="1" dirty="0" err="1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Альсова</a:t>
            </a:r>
            <a:r>
              <a:rPr lang="ru-RU" sz="1600" b="1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 Ольга Константиновна</a:t>
            </a:r>
          </a:p>
          <a:p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Научный руководитель, к.т.н., </a:t>
            </a:r>
            <a:r>
              <a:rPr lang="ru-RU" sz="1600" dirty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доцент, </a:t>
            </a:r>
            <a:r>
              <a:rPr lang="ru-RU" sz="1600" dirty="0" err="1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к.т.н</a:t>
            </a:r>
            <a:endParaRPr lang="ru-RU" sz="1600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23528" y="176007"/>
            <a:ext cx="565212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Содержание </a:t>
            </a:r>
            <a:r>
              <a:rPr lang="ru-RU" sz="2400" b="1" dirty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доклада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AutoShape 4" descr="Промышленный автоматический манипулятор для захвата и размещения,  паллетизация 6 осевой робот-рука - Китай Манипулятор робота, промышленный  робот">
            <a:extLst>
              <a:ext uri="{FF2B5EF4-FFF2-40B4-BE49-F238E27FC236}">
                <a16:creationId xmlns:a16="http://schemas.microsoft.com/office/drawing/2014/main" id="{5CED3FCD-32EE-4BB4-88E0-FEB9A300A4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7BC01D9-A5E0-4E9D-AC9A-E0DF9784012C}"/>
              </a:ext>
            </a:extLst>
          </p:cNvPr>
          <p:cNvSpPr>
            <a:spLocks noGrp="1"/>
          </p:cNvSpPr>
          <p:nvPr/>
        </p:nvSpPr>
        <p:spPr>
          <a:xfrm>
            <a:off x="357264" y="817391"/>
            <a:ext cx="7599112" cy="3739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342900" eaLnBrk="1" hangingPunct="1">
              <a:defRPr>
                <a:latin typeface="+mn-lt"/>
                <a:ea typeface="+mn-ea"/>
                <a:cs typeface="+mn-cs"/>
              </a:defRPr>
            </a:lvl2pPr>
            <a:lvl3pPr marL="685800" eaLnBrk="1" hangingPunct="1">
              <a:defRPr>
                <a:latin typeface="+mn-lt"/>
                <a:ea typeface="+mn-ea"/>
                <a:cs typeface="+mn-cs"/>
              </a:defRPr>
            </a:lvl3pPr>
            <a:lvl4pPr marL="1028700" eaLnBrk="1" hangingPunct="1">
              <a:defRPr>
                <a:latin typeface="+mn-lt"/>
                <a:ea typeface="+mn-ea"/>
                <a:cs typeface="+mn-cs"/>
              </a:defRPr>
            </a:lvl4pPr>
            <a:lvl5pPr marL="1371600" eaLnBrk="1" hangingPunct="1">
              <a:defRPr>
                <a:latin typeface="+mn-lt"/>
                <a:ea typeface="+mn-ea"/>
                <a:cs typeface="+mn-cs"/>
              </a:defRPr>
            </a:lvl5pPr>
            <a:lvl6pPr marL="1714500" eaLnBrk="1" hangingPunct="1">
              <a:defRPr>
                <a:latin typeface="+mn-lt"/>
                <a:ea typeface="+mn-ea"/>
                <a:cs typeface="+mn-cs"/>
              </a:defRPr>
            </a:lvl6pPr>
            <a:lvl7pPr marL="2057400" eaLnBrk="1" hangingPunct="1">
              <a:defRPr>
                <a:latin typeface="+mn-lt"/>
                <a:ea typeface="+mn-ea"/>
                <a:cs typeface="+mn-cs"/>
              </a:defRPr>
            </a:lvl7pPr>
            <a:lvl8pPr marL="2400300" eaLnBrk="1" hangingPunct="1">
              <a:defRPr>
                <a:latin typeface="+mn-lt"/>
                <a:ea typeface="+mn-ea"/>
                <a:cs typeface="+mn-cs"/>
              </a:defRPr>
            </a:lvl8pPr>
            <a:lvl9pPr marL="27432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Постановка задачи: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понятия предметной области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Выводы по аналитическому обзору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Целеполагание и формулировка задач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endParaRPr lang="ru-RU" b="1" kern="1200" dirty="0" smtClean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="1" kern="1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Результаты работы за 1 год и дальнейший план </a:t>
            </a: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en-US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b="1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285750" algn="just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сследовательская часть</a:t>
            </a:r>
            <a:endParaRPr lang="ru-RU" b="1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285750" algn="just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рактическая часть</a:t>
            </a:r>
            <a:endParaRPr lang="ru-RU" b="1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285750" algn="just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редполагаемые результаты 3 семестра</a:t>
            </a:r>
            <a:endParaRPr lang="ru-RU" b="1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285750" algn="just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Предполагаемые </a:t>
            </a:r>
            <a:r>
              <a:rPr lang="ru-RU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 </a:t>
            </a: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ru-RU" b="1" kern="1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семестра</a:t>
            </a:r>
            <a:r>
              <a:rPr lang="en-US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b="1" kern="1200" dirty="0" smtClean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285750" algn="just"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ru-RU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Предполагаемые научная новизна</a:t>
            </a:r>
            <a:r>
              <a:rPr lang="ru-RU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п</a:t>
            </a:r>
            <a:r>
              <a:rPr lang="ru-RU" b="1" kern="1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рактическая значимость</a:t>
            </a:r>
            <a:endParaRPr lang="ru-RU" b="1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33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C61DC-231B-5DEC-4E83-278336F3824E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95486"/>
            <a:ext cx="7056784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понятия предметной области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528" y="1059582"/>
            <a:ext cx="3240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Обезличивание</a:t>
            </a:r>
            <a:r>
              <a:rPr lang="ru-RU" b="1" spc="-25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данных</a:t>
            </a:r>
            <a:r>
              <a:rPr lang="ru-RU" b="1" spc="-35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—</a:t>
            </a:r>
            <a:r>
              <a:rPr lang="ru-RU" spc="-25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457962" y="1064650"/>
            <a:ext cx="54588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это</a:t>
            </a:r>
            <a:r>
              <a:rPr lang="ru-RU" spc="-3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процесс</a:t>
            </a:r>
            <a:r>
              <a:rPr lang="ru-RU" spc="-2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изменения</a:t>
            </a:r>
            <a:r>
              <a:rPr lang="ru-RU" spc="-2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данных</a:t>
            </a:r>
            <a:r>
              <a:rPr lang="ru-RU" spc="-5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таким</a:t>
            </a:r>
            <a:r>
              <a:rPr lang="ru-RU" spc="-2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образом,</a:t>
            </a:r>
            <a:r>
              <a:rPr lang="ru-RU" spc="-1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чтобы они больше не могли быть использованы для идентификации конкретного субъекта.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8428" y="2395479"/>
            <a:ext cx="3151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Персональные данные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—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415093" y="2395479"/>
            <a:ext cx="5501758" cy="1232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любая информация, относящаяся к прямо или косвенно определенному физическому лицу и хранимая в информационных системах в электронном виде.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429175" y="3939902"/>
            <a:ext cx="51843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Федеральный </a:t>
            </a:r>
            <a:r>
              <a:rPr lang="ru-RU" dirty="0"/>
              <a:t>закон "О персональных данных" </a:t>
            </a:r>
            <a:endParaRPr lang="ru-RU" dirty="0" smtClean="0"/>
          </a:p>
          <a:p>
            <a:r>
              <a:rPr lang="ru-RU" dirty="0" smtClean="0"/>
              <a:t>от </a:t>
            </a:r>
            <a:r>
              <a:rPr lang="ru-RU" dirty="0"/>
              <a:t>27.07.2006 №</a:t>
            </a:r>
            <a:r>
              <a:rPr lang="ru-RU" dirty="0" smtClean="0"/>
              <a:t>152-ФЗ 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23528" y="3945478"/>
            <a:ext cx="1385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/>
              <a:t>Источник: </a:t>
            </a:r>
          </a:p>
        </p:txBody>
      </p:sp>
    </p:spTree>
    <p:extLst>
      <p:ext uri="{BB962C8B-B14F-4D97-AF65-F5344CB8AC3E}">
        <p14:creationId xmlns:p14="http://schemas.microsoft.com/office/powerpoint/2010/main" val="211562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FAA24E-0BD5-4A6B-62C8-1AD975CA2BD0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95486"/>
            <a:ext cx="583264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Список основных источников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A2B9281-EA82-4103-AACC-B05101C63A53}"/>
              </a:ext>
            </a:extLst>
          </p:cNvPr>
          <p:cNvSpPr txBox="1">
            <a:spLocks/>
          </p:cNvSpPr>
          <p:nvPr/>
        </p:nvSpPr>
        <p:spPr>
          <a:xfrm>
            <a:off x="395536" y="915566"/>
            <a:ext cx="3016624" cy="325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600" b="1" dirty="0"/>
              <a:t>Монографии(книги</a:t>
            </a:r>
            <a:r>
              <a:rPr lang="ru-RU" sz="2000" b="1" dirty="0"/>
              <a:t>)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D91F7498-FDFC-4EDF-BB52-2CE17194A7BA}"/>
              </a:ext>
            </a:extLst>
          </p:cNvPr>
          <p:cNvSpPr>
            <a:spLocks noGrp="1"/>
          </p:cNvSpPr>
          <p:nvPr/>
        </p:nvSpPr>
        <p:spPr>
          <a:xfrm>
            <a:off x="395536" y="1350022"/>
            <a:ext cx="4296003" cy="135210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Столбов А.П.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Обезличивание персональных данных в здравоохранении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Компьютерные и информационные науки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ISBN: 978-1-4799-2188-1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NettletonData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Privacy and Privacy-Preserving Data Publishing. - Commercial Data Mining, 2014,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217-228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Nihad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Ahmad Hassan,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Rami Hijazi Data Hiding Using Encryption Techniques. - Data Hiding Techniques in Windows OS., 2017,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133-205</a:t>
            </a:r>
          </a:p>
          <a:p>
            <a:pPr marL="514350" indent="-514350">
              <a:buFont typeface="+mj-lt"/>
              <a:buAutoNum type="arabicPeriod"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A2B9281-EA82-4103-AACC-B05101C63A53}"/>
              </a:ext>
            </a:extLst>
          </p:cNvPr>
          <p:cNvSpPr txBox="1">
            <a:spLocks/>
          </p:cNvSpPr>
          <p:nvPr/>
        </p:nvSpPr>
        <p:spPr>
          <a:xfrm>
            <a:off x="4691539" y="915566"/>
            <a:ext cx="3016624" cy="325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600" b="1" dirty="0" smtClean="0"/>
              <a:t>Статьи</a:t>
            </a:r>
            <a:endParaRPr lang="ru-RU" sz="2000" b="1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A2D8D720-E505-4003-B4DD-6655D12C5BF4}"/>
              </a:ext>
            </a:extLst>
          </p:cNvPr>
          <p:cNvSpPr txBox="1">
            <a:spLocks/>
          </p:cNvSpPr>
          <p:nvPr/>
        </p:nvSpPr>
        <p:spPr>
          <a:xfrm>
            <a:off x="4623383" y="1350022"/>
            <a:ext cx="4520617" cy="39824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Е.А.,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Андрейченко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А.Е.,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Казакова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М. А. </a:t>
            </a:r>
            <a:r>
              <a:rPr lang="ru-RU" sz="1100" dirty="0" smtClean="0"/>
              <a:t>Обезличивание </a:t>
            </a:r>
            <a:r>
              <a:rPr lang="ru-RU" sz="1100" dirty="0"/>
              <a:t>медицинских текстовых данных для разработки и внедрения систем искусственного </a:t>
            </a:r>
            <a:r>
              <a:rPr lang="ru-RU" sz="1100" dirty="0" smtClean="0"/>
              <a:t>интеллекта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Правовая информатика, 2024. - С.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96-104.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(Перевод статьи)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В. Борисов, А. В. </a:t>
            </a:r>
            <a:r>
              <a:rPr lang="ru-RU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Босов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А. В. Иванов Применение имитационного компьютерного моделирования к задаче обезличивания персональных данных. Модель и алгоритм обезличивания методом синтеза.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20</a:t>
            </a:r>
            <a:r>
              <a:rPr lang="ru-RU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3 -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 5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- С. </a:t>
            </a:r>
            <a:r>
              <a:rPr lang="ru-RU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19-34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1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Столбов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А. П.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стандартизации методов </a:t>
            </a:r>
            <a:r>
              <a:rPr lang="ru-RU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псевдонимизации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персональных данных в здравоохранении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ru-RU" sz="1100" dirty="0" smtClean="0"/>
              <a:t>Молодой ученый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100" dirty="0" smtClean="0"/>
              <a:t>- 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ru-RU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- С. 5-13</a:t>
            </a:r>
            <a:r>
              <a:rPr lang="en-US" sz="11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1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395536" y="3531611"/>
            <a:ext cx="38884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"О персональных данных" от 27.07.2006 N 152-ФЗ (последняя редакция) \ </a:t>
            </a:r>
            <a:r>
              <a:rPr lang="ru-RU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КонсультантПлюс</a:t>
            </a:r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https://www.consultant.ru/document/cons_doc_LAW_61801/</a:t>
            </a:r>
            <a:endParaRPr lang="ru-RU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3A2B9281-EA82-4103-AACC-B05101C63A53}"/>
              </a:ext>
            </a:extLst>
          </p:cNvPr>
          <p:cNvSpPr txBox="1">
            <a:spLocks/>
          </p:cNvSpPr>
          <p:nvPr/>
        </p:nvSpPr>
        <p:spPr>
          <a:xfrm>
            <a:off x="435149" y="2953985"/>
            <a:ext cx="3016624" cy="325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600" b="1" dirty="0" smtClean="0"/>
              <a:t>Интернет-источники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06980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096535-161C-1476-E7BE-BF2B94819E9D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195486"/>
            <a:ext cx="583264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Постановка задачи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0037" y="3488813"/>
            <a:ext cx="70385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исследования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обуславливается необходимостью разработки конкурентоспособного, открытого и независимого отечественного решения, соответствующего требованиям защиты персональных данных.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98562" y="2753945"/>
            <a:ext cx="7992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Актуальность направления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обуславливается возрастающей </a:t>
            </a:r>
            <a:r>
              <a:rPr lang="ru-RU" sz="1600" dirty="0" smtClean="0"/>
              <a:t>угрозой </a:t>
            </a:r>
            <a:r>
              <a:rPr lang="ru-RU" sz="1600" dirty="0"/>
              <a:t>утечек личной информации </a:t>
            </a:r>
            <a:r>
              <a:rPr lang="ru-RU" sz="1600" dirty="0" smtClean="0"/>
              <a:t>с </a:t>
            </a:r>
            <a:r>
              <a:rPr lang="ru-RU" sz="1600" dirty="0"/>
              <a:t>увеличением объемов обрабатываемых данных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98562" y="1354593"/>
            <a:ext cx="7992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Разработать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модуль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анонимизации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системы обезличивания данных с использованием технологий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98562" y="2234520"/>
            <a:ext cx="4700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1.2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Выводы по аналитическому обзору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0037" y="886543"/>
            <a:ext cx="3216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1.1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Исходная цель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98281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3CBFB-5215-98F1-0979-EC0B19B0A9E2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195486"/>
            <a:ext cx="8748464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Теоретические исследования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4">
            <a:extLst>
              <a:ext uri="{FF2B5EF4-FFF2-40B4-BE49-F238E27FC236}">
                <a16:creationId xmlns:a16="http://schemas.microsoft.com/office/drawing/2014/main" id="{48DD992F-B7C7-4CBF-9399-B755F0333B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3933456"/>
              </p:ext>
            </p:extLst>
          </p:nvPr>
        </p:nvGraphicFramePr>
        <p:xfrm>
          <a:off x="251520" y="697155"/>
          <a:ext cx="8712968" cy="3626934"/>
        </p:xfrm>
        <a:graphic>
          <a:graphicData uri="http://schemas.openxmlformats.org/drawingml/2006/table">
            <a:tbl>
              <a:tblPr firstRow="1" bandRow="1"/>
              <a:tblGrid>
                <a:gridCol w="2502308">
                  <a:extLst>
                    <a:ext uri="{9D8B030D-6E8A-4147-A177-3AD203B41FA5}">
                      <a16:colId xmlns:a16="http://schemas.microsoft.com/office/drawing/2014/main" val="2418857228"/>
                    </a:ext>
                  </a:extLst>
                </a:gridCol>
                <a:gridCol w="3902096">
                  <a:extLst>
                    <a:ext uri="{9D8B030D-6E8A-4147-A177-3AD203B41FA5}">
                      <a16:colId xmlns:a16="http://schemas.microsoft.com/office/drawing/2014/main" val="3058844832"/>
                    </a:ext>
                  </a:extLst>
                </a:gridCol>
                <a:gridCol w="2308564">
                  <a:extLst>
                    <a:ext uri="{9D8B030D-6E8A-4147-A177-3AD203B41FA5}">
                      <a16:colId xmlns:a16="http://schemas.microsoft.com/office/drawing/2014/main" val="715937843"/>
                    </a:ext>
                  </a:extLst>
                </a:gridCol>
              </a:tblGrid>
              <a:tr h="3722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600" dirty="0" smtClean="0">
                          <a:solidFill>
                            <a:schemeClr val="tx1"/>
                          </a:solidFill>
                        </a:rPr>
                        <a:t>Вид работ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</a:rPr>
                        <a:t>Результат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</a:rPr>
                        <a:t>ы 1-2 семестра</a:t>
                      </a:r>
                      <a:endParaRPr lang="ru-RU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600" dirty="0" smtClean="0">
                          <a:solidFill>
                            <a:schemeClr val="tx1"/>
                          </a:solidFill>
                        </a:rPr>
                        <a:t>План на 3-4 семестр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32523"/>
                  </a:ext>
                </a:extLst>
              </a:tr>
              <a:tr h="11514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Аналитический обзор предметной области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Изучены ключевые понятия: обезличивание данных, персональные данные, алгоритмы обезличивания, синтетические данные. Проведен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анализ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существующих систем.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ru-RU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005888"/>
                  </a:ext>
                </a:extLst>
              </a:tr>
              <a:tr h="7145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Анализ существующих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алгоритмов обезличивания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Были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изучены основные алгоритмы обезличивания.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Изучение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и классификация алгоритмов синтеза данных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616809"/>
                  </a:ext>
                </a:extLst>
              </a:tr>
              <a:tr h="565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Постановка цели и задач исследования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Сформированы цели и задачи с учетом актуальности направления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867779"/>
                  </a:ext>
                </a:extLst>
              </a:tr>
              <a:tr h="798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Анализ результаты работы алгоритмов обезличивания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Провести сравнительный</a:t>
                      </a:r>
                      <a:r>
                        <a:rPr lang="ru-RU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анализ классических</a:t>
                      </a:r>
                      <a:r>
                        <a:rPr lang="ru-RU" sz="1200" baseline="0" dirty="0" smtClean="0">
                          <a:solidFill>
                            <a:schemeClr val="tx1"/>
                          </a:solidFill>
                        </a:rPr>
                        <a:t> алгоритмов обезличивания и алгоритмов синтеза данных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26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246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7F599E-F715-431B-BBBB-2893F925D9B3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5536" y="195486"/>
            <a:ext cx="835292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Проектно-конструкторская и технологическая работа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8DD992F-B7C7-4CBF-9399-B755F0333B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3706911"/>
              </p:ext>
            </p:extLst>
          </p:nvPr>
        </p:nvGraphicFramePr>
        <p:xfrm>
          <a:off x="215516" y="771550"/>
          <a:ext cx="8712968" cy="3423576"/>
        </p:xfrm>
        <a:graphic>
          <a:graphicData uri="http://schemas.openxmlformats.org/drawingml/2006/table">
            <a:tbl>
              <a:tblPr firstRow="1" bandRow="1"/>
              <a:tblGrid>
                <a:gridCol w="2502308">
                  <a:extLst>
                    <a:ext uri="{9D8B030D-6E8A-4147-A177-3AD203B41FA5}">
                      <a16:colId xmlns:a16="http://schemas.microsoft.com/office/drawing/2014/main" val="2418857228"/>
                    </a:ext>
                  </a:extLst>
                </a:gridCol>
                <a:gridCol w="3902096">
                  <a:extLst>
                    <a:ext uri="{9D8B030D-6E8A-4147-A177-3AD203B41FA5}">
                      <a16:colId xmlns:a16="http://schemas.microsoft.com/office/drawing/2014/main" val="3058844832"/>
                    </a:ext>
                  </a:extLst>
                </a:gridCol>
                <a:gridCol w="2308564">
                  <a:extLst>
                    <a:ext uri="{9D8B030D-6E8A-4147-A177-3AD203B41FA5}">
                      <a16:colId xmlns:a16="http://schemas.microsoft.com/office/drawing/2014/main" val="715937843"/>
                    </a:ext>
                  </a:extLst>
                </a:gridCol>
              </a:tblGrid>
              <a:tr h="3722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600" dirty="0" smtClean="0">
                          <a:solidFill>
                            <a:schemeClr val="tx1"/>
                          </a:solidFill>
                        </a:rPr>
                        <a:t>Вид работ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</a:rPr>
                        <a:t>Результат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</a:rPr>
                        <a:t>ы 1-2 семестра</a:t>
                      </a:r>
                      <a:endParaRPr lang="ru-RU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600" dirty="0" smtClean="0">
                          <a:solidFill>
                            <a:schemeClr val="tx1"/>
                          </a:solidFill>
                        </a:rPr>
                        <a:t>План на 3-4 семестр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32523"/>
                  </a:ext>
                </a:extLst>
              </a:tr>
              <a:tr h="7823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Проектирование архитектуры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Поиск и внедрение готовой архитектуры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Создание архитектуры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модуля «Синтез данных»</a:t>
                      </a:r>
                      <a:endParaRPr lang="ru-RU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005888"/>
                  </a:ext>
                </a:extLst>
              </a:tr>
              <a:tr h="7145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Программная реализация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Реализован базовый функционал модулей обезличивания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и подготовки данных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Создание модуля «Синтез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данных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»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616809"/>
                  </a:ext>
                </a:extLst>
              </a:tr>
              <a:tr h="565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Исследование выполненной разработки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Оптимизация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 производительности, улучшение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UX-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</a:rPr>
                        <a:t>дизайна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867779"/>
                  </a:ext>
                </a:extLst>
              </a:tr>
              <a:tr h="798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Техническая документации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Создание р</a:t>
                      </a:r>
                      <a:r>
                        <a:rPr lang="ru-RU" sz="1200" dirty="0" smtClean="0"/>
                        <a:t>екомендаций по внедрению и использованию модуля.</a:t>
                      </a:r>
                      <a:r>
                        <a:rPr lang="ru-RU" sz="1200" baseline="0" dirty="0" smtClean="0"/>
                        <a:t> Написание технической документации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26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0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3CBFB-5215-98F1-0979-EC0B19B0A9E2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95486"/>
            <a:ext cx="835292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 smtClean="0">
                <a:solidFill>
                  <a:srgbClr val="781C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Предварительные выводы</a:t>
            </a:r>
            <a:endParaRPr lang="ru-RU" sz="2400" b="1" dirty="0">
              <a:solidFill>
                <a:srgbClr val="781C3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39094" y="1204049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Предполагаемая научная новизна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работы заключается в применении алгоритмов синтеза данных для задач обезличивания данных.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82234" y="2283718"/>
            <a:ext cx="7992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Ожидаемая практическая значимость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работы заключается в последующем внедрении результатов работы в </a:t>
            </a:r>
            <a:r>
              <a:rPr lang="ru-RU" dirty="0"/>
              <a:t>более широкую систему интеллектуального управления, обогащения и обезличивания </a:t>
            </a:r>
            <a:r>
              <a:rPr lang="ru-RU" dirty="0" smtClean="0"/>
              <a:t>данных. </a:t>
            </a:r>
          </a:p>
          <a:p>
            <a:r>
              <a:rPr lang="ru-RU" dirty="0" smtClean="0"/>
              <a:t>Работа предполагает </a:t>
            </a:r>
            <a:r>
              <a:rPr lang="en-US" dirty="0" smtClean="0"/>
              <a:t>Open Source </a:t>
            </a:r>
            <a:r>
              <a:rPr lang="ru-RU" dirty="0" smtClean="0"/>
              <a:t>(открытый исходный код) распространение, что предоставит возможность любым предприятиям внедрить ее в свой рабочий процесс.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4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0F68-21AD-9854-DBBC-E5B96740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FD4F19-5515-8706-6E09-B32D1B31CDA3}"/>
              </a:ext>
            </a:extLst>
          </p:cNvPr>
          <p:cNvSpPr/>
          <p:nvPr/>
        </p:nvSpPr>
        <p:spPr>
          <a:xfrm>
            <a:off x="0" y="4659982"/>
            <a:ext cx="9144000" cy="483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4890AAF-1E01-6C26-FF12-BABDB18DCE65}"/>
              </a:ext>
            </a:extLst>
          </p:cNvPr>
          <p:cNvSpPr/>
          <p:nvPr/>
        </p:nvSpPr>
        <p:spPr>
          <a:xfrm>
            <a:off x="5143504" y="0"/>
            <a:ext cx="4000496" cy="21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97664BC-D5C3-44EB-94B1-447D235E3DC2}"/>
              </a:ext>
            </a:extLst>
          </p:cNvPr>
          <p:cNvSpPr/>
          <p:nvPr/>
        </p:nvSpPr>
        <p:spPr>
          <a:xfrm>
            <a:off x="5143504" y="4714890"/>
            <a:ext cx="4000496" cy="428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C727CE-5DFB-DFF7-B862-CDFC98651CCE}"/>
              </a:ext>
            </a:extLst>
          </p:cNvPr>
          <p:cNvSpPr/>
          <p:nvPr/>
        </p:nvSpPr>
        <p:spPr>
          <a:xfrm flipH="1">
            <a:off x="0" y="0"/>
            <a:ext cx="9144000" cy="5143500"/>
          </a:xfrm>
          <a:prstGeom prst="rect">
            <a:avLst/>
          </a:prstGeom>
          <a:solidFill>
            <a:srgbClr val="781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7CB3CFD-A7FD-59CC-2D41-09AE7AAC6C90}"/>
              </a:ext>
            </a:extLst>
          </p:cNvPr>
          <p:cNvSpPr txBox="1">
            <a:spLocks/>
          </p:cNvSpPr>
          <p:nvPr/>
        </p:nvSpPr>
        <p:spPr>
          <a:xfrm>
            <a:off x="1331640" y="2139702"/>
            <a:ext cx="6624736" cy="4714908"/>
          </a:xfrm>
          <a:prstGeom prst="rect">
            <a:avLst/>
          </a:prstGeom>
        </p:spPr>
        <p:txBody>
          <a:bodyPr vert="horz" lIns="0" tIns="0" rIns="0" bIns="0" rtlCol="0" anchor="t">
            <a:normAutofit fontScale="975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048000" algn="l"/>
              </a:tabLst>
              <a:defRPr/>
            </a:pPr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Спасибо за внимание !</a:t>
            </a:r>
          </a:p>
        </p:txBody>
      </p:sp>
    </p:spTree>
    <p:extLst>
      <p:ext uri="{BB962C8B-B14F-4D97-AF65-F5344CB8AC3E}">
        <p14:creationId xmlns:p14="http://schemas.microsoft.com/office/powerpoint/2010/main" val="11514094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НГТУ НЭТИ Stem">
      <a:majorFont>
        <a:latin typeface="Stem Text Bold"/>
        <a:ea typeface=""/>
        <a:cs typeface=""/>
      </a:majorFont>
      <a:minorFont>
        <a:latin typeface="Stem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3491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2357</TotalTime>
  <Words>654</Words>
  <Application>Microsoft Office PowerPoint</Application>
  <PresentationFormat>Экран (16:9)</PresentationFormat>
  <Paragraphs>84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Stem Text Bold</vt:lpstr>
      <vt:lpstr>Times New Roman</vt:lpstr>
      <vt:lpstr>Calibri</vt:lpstr>
      <vt:lpstr>Stem Text</vt:lpstr>
      <vt:lpstr>Roboto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НГТУ НЭТИ 16:9</dc:title>
  <dc:creator>Валентин Кривица</dc:creator>
  <cp:lastModifiedBy>Саныч Сан</cp:lastModifiedBy>
  <cp:revision>233</cp:revision>
  <dcterms:created xsi:type="dcterms:W3CDTF">2019-05-10T11:12:43Z</dcterms:created>
  <dcterms:modified xsi:type="dcterms:W3CDTF">2025-06-02T17:45:22Z</dcterms:modified>
</cp:coreProperties>
</file>