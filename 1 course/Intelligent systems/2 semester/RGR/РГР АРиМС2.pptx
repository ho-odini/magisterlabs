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62" r:id="rId4"/>
    <p:sldId id="263" r:id="rId5"/>
    <p:sldId id="264" r:id="rId6"/>
    <p:sldId id="274" r:id="rId7"/>
    <p:sldId id="293" r:id="rId8"/>
    <p:sldId id="295" r:id="rId9"/>
    <p:sldId id="292" r:id="rId10"/>
    <p:sldId id="294" r:id="rId11"/>
  </p:sldIdLst>
  <p:sldSz cx="9144000" cy="5143500" type="screen16x9"/>
  <p:notesSz cx="6858000" cy="9144000"/>
  <p:embeddedFontLst>
    <p:embeddedFont>
      <p:font typeface="Roboto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517" userDrawn="1">
          <p15:clr>
            <a:srgbClr val="A4A3A4"/>
          </p15:clr>
        </p15:guide>
        <p15:guide id="3" pos="249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5" orient="horz" pos="299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7D42F8-4E86-10F8-7062-6A8B1A5CAD9E}" name="Павел Фатьянов" initials="ПФ" userId="35cf70301ae7135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1C33"/>
    <a:srgbClr val="CC0000"/>
    <a:srgbClr val="0F8259"/>
    <a:srgbClr val="BD0040"/>
    <a:srgbClr val="920000"/>
    <a:srgbClr val="0C5C2C"/>
    <a:srgbClr val="A50021"/>
    <a:srgbClr val="A22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8" autoAdjust="0"/>
  </p:normalViewPr>
  <p:slideViewPr>
    <p:cSldViewPr>
      <p:cViewPr varScale="1">
        <p:scale>
          <a:sx n="108" d="100"/>
          <a:sy n="108" d="100"/>
        </p:scale>
        <p:origin x="758" y="62"/>
      </p:cViewPr>
      <p:guideLst>
        <p:guide orient="horz" pos="1620"/>
        <p:guide pos="2517"/>
        <p:guide pos="249"/>
        <p:guide orient="horz" pos="259"/>
        <p:guide orient="horz" pos="29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EEB8F-F394-42F5-9650-2EDD3D430F7F}" type="datetimeFigureOut">
              <a:rPr lang="ru-RU" smtClean="0"/>
              <a:pPr/>
              <a:t>02.06.2025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186AA-97E8-4BC6-880E-337DD9C7C5A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1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9"/>
          <p:cNvSpPr>
            <a:spLocks noGrp="1"/>
          </p:cNvSpPr>
          <p:nvPr>
            <p:ph type="body" sz="quarter" idx="10"/>
          </p:nvPr>
        </p:nvSpPr>
        <p:spPr>
          <a:xfrm>
            <a:off x="467544" y="357172"/>
            <a:ext cx="5857894" cy="914400"/>
          </a:xfrm>
          <a:prstGeom prst="rect">
            <a:avLst/>
          </a:prstGeom>
        </p:spPr>
        <p:txBody>
          <a:bodyPr/>
          <a:lstStyle>
            <a:lvl1pPr marL="88900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2925" indent="-85725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73025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20825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85950" indent="-88900">
              <a:buClr>
                <a:srgbClr val="CC0000"/>
              </a:buClr>
              <a:buSzPct val="120000"/>
              <a:buFont typeface="Arial" panose="020B0604020202020204" pitchFamily="34" charset="0"/>
              <a:buChar char="›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4714890"/>
            <a:ext cx="9144000" cy="428628"/>
          </a:xfrm>
          <a:prstGeom prst="rect">
            <a:avLst/>
          </a:prstGeom>
          <a:solidFill>
            <a:srgbClr val="781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8215338" y="4857768"/>
            <a:ext cx="857256" cy="1428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www.nstu.ru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838085"/>
            <a:ext cx="607118" cy="1958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5"/>
        </a:buBlip>
        <a:defRPr sz="20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6"/>
        </a:buBlip>
        <a:defRPr sz="1800" kern="1200">
          <a:solidFill>
            <a:schemeClr val="tx1"/>
          </a:solidFill>
          <a:latin typeface="Stem Text" pitchFamily="34" charset="-52"/>
          <a:ea typeface="Stem Text" pitchFamily="34" charset="-5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4659982"/>
            <a:ext cx="9144000" cy="483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5143504" y="0"/>
            <a:ext cx="4000496" cy="214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143504" y="4714890"/>
            <a:ext cx="4000496" cy="428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 flipH="1">
            <a:off x="4023943" y="0"/>
            <a:ext cx="5144400" cy="5143500"/>
          </a:xfrm>
          <a:prstGeom prst="rect">
            <a:avLst/>
          </a:prstGeom>
          <a:solidFill>
            <a:srgbClr val="781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023943" y="1609586"/>
            <a:ext cx="5144400" cy="4714908"/>
          </a:xfrm>
          <a:prstGeom prst="rect">
            <a:avLst/>
          </a:prstGeom>
        </p:spPr>
        <p:txBody>
          <a:bodyPr vert="horz" lIns="0" tIns="0" rIns="0" bIns="0" rtlCol="0" anchor="t">
            <a:normAutofit fontScale="97500"/>
          </a:bodyPr>
          <a:lstStyle/>
          <a:p>
            <a:pPr algn="ctr">
              <a:spcBef>
                <a:spcPct val="0"/>
              </a:spcBef>
              <a:tabLst>
                <a:tab pos="3048000" algn="l"/>
              </a:tabLst>
              <a:defRPr/>
            </a:pPr>
            <a:r>
              <a:rPr lang="ru-RU" sz="2100" b="1" dirty="0" smtClean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РАСЧЕТНО-ГРАФИЧЕСКАЯ </a:t>
            </a:r>
            <a:r>
              <a:rPr lang="ru-RU" sz="2100" b="1" dirty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РАБОТА</a:t>
            </a:r>
          </a:p>
          <a:p>
            <a:pPr algn="ctr">
              <a:spcBef>
                <a:spcPct val="0"/>
              </a:spcBef>
              <a:tabLst>
                <a:tab pos="3048000" algn="l"/>
              </a:tabLst>
              <a:defRPr/>
            </a:pPr>
            <a:r>
              <a:rPr lang="ru-RU" sz="2100" b="1" dirty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 по дисциплине «Автономные роботы и </a:t>
            </a:r>
            <a:r>
              <a:rPr lang="ru-RU" sz="2100" b="1" dirty="0" err="1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многоагентные</a:t>
            </a:r>
            <a:r>
              <a:rPr lang="ru-RU" sz="2100" b="1" dirty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 системы</a:t>
            </a:r>
            <a:r>
              <a:rPr lang="ru-RU" sz="2100" b="1" dirty="0" smtClean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»</a:t>
            </a:r>
          </a:p>
          <a:p>
            <a:pPr algn="ctr">
              <a:spcBef>
                <a:spcPct val="0"/>
              </a:spcBef>
              <a:tabLst>
                <a:tab pos="3048000" algn="l"/>
              </a:tabLst>
              <a:defRPr/>
            </a:pPr>
            <a:endParaRPr lang="ru-RU" sz="2100" b="1" dirty="0">
              <a:solidFill>
                <a:schemeClr val="bg1"/>
              </a:solidFill>
              <a:latin typeface="Arial" panose="020B0604020202020204" pitchFamily="34" charset="0"/>
              <a:ea typeface="Stem Text Bold" pitchFamily="34" charset="-52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tabLst>
                <a:tab pos="3048000" algn="l"/>
              </a:tabLst>
              <a:defRPr/>
            </a:pPr>
            <a:r>
              <a:rPr lang="ru-RU" sz="2100" b="1" dirty="0" smtClean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ПРОМОБОТЫ</a:t>
            </a:r>
            <a:endParaRPr lang="ru-RU" sz="2100" b="1" dirty="0">
              <a:solidFill>
                <a:schemeClr val="bg1"/>
              </a:solidFill>
              <a:latin typeface="Arial" panose="020B0604020202020204" pitchFamily="34" charset="0"/>
              <a:ea typeface="Stem Text Bold" pitchFamily="34" charset="-52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tabLst>
                <a:tab pos="3048000" algn="l"/>
              </a:tabLst>
              <a:defRPr/>
            </a:pPr>
            <a:endParaRPr lang="ru-RU" sz="2800" b="1" dirty="0">
              <a:solidFill>
                <a:schemeClr val="bg1"/>
              </a:solidFill>
              <a:latin typeface="Arial" panose="020B0604020202020204" pitchFamily="34" charset="0"/>
              <a:ea typeface="Stem Text Bold" pitchFamily="34" charset="-52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8444" y="2301137"/>
            <a:ext cx="3242712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400" b="1" dirty="0" err="1" smtClean="0"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Ириков</a:t>
            </a:r>
            <a:r>
              <a:rPr lang="ru-RU" sz="2400" b="1" dirty="0" smtClean="0"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 Евгений Алексеевич</a:t>
            </a:r>
            <a:endParaRPr lang="ru-RU" sz="2400" b="1" dirty="0">
              <a:latin typeface="Arial" panose="020B0604020202020204" pitchFamily="34" charset="0"/>
              <a:ea typeface="Stem Text Bold" pitchFamily="34" charset="-52"/>
              <a:cs typeface="Arial" panose="020B0604020202020204" pitchFamily="34" charset="0"/>
            </a:endParaRPr>
          </a:p>
          <a:p>
            <a:endParaRPr lang="ru-RU" sz="2000" i="1" dirty="0">
              <a:latin typeface="Stem Text Bold" pitchFamily="34" charset="-52"/>
              <a:ea typeface="Stem Text Bold" pitchFamily="34" charset="-52"/>
              <a:cs typeface="Arial" pitchFamily="34" charset="0"/>
            </a:endParaRPr>
          </a:p>
          <a:p>
            <a:r>
              <a:rPr lang="ru-RU" sz="1200" i="1" dirty="0">
                <a:latin typeface="Arial" panose="020B0604020202020204" pitchFamily="34" charset="0"/>
                <a:ea typeface="Stem Text" pitchFamily="34" charset="-52"/>
                <a:cs typeface="Arial" panose="020B0604020202020204" pitchFamily="34" charset="0"/>
              </a:rPr>
              <a:t>АММ2-24, АВТФ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84" y="414493"/>
            <a:ext cx="2020531" cy="65270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4" y="1314119"/>
            <a:ext cx="1337294" cy="2971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165395"/>
            <a:ext cx="9144000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Основные понятия и определения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9FC7E-EEE9-FB7A-534D-57B5082F5A08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AutoShape 4" descr="Промышленный автоматический манипулятор для захвата и размещения,  паллетизация 6 осевой робот-рука - Китай Манипулятор робота, промышленный  робот">
            <a:extLst>
              <a:ext uri="{FF2B5EF4-FFF2-40B4-BE49-F238E27FC236}">
                <a16:creationId xmlns:a16="http://schemas.microsoft.com/office/drawing/2014/main" id="{5CED3FCD-32EE-4BB4-88E0-FEB9A300A4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2E27E-CE4A-4DA8-BC3A-99B08C78C4B0}"/>
              </a:ext>
            </a:extLst>
          </p:cNvPr>
          <p:cNvSpPr txBox="1"/>
          <p:nvPr/>
        </p:nvSpPr>
        <p:spPr>
          <a:xfrm>
            <a:off x="179512" y="1059582"/>
            <a:ext cx="485752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 smtClean="0"/>
              <a:t>Промобот</a:t>
            </a:r>
            <a:r>
              <a:rPr lang="ru-RU" dirty="0" smtClean="0"/>
              <a:t> </a:t>
            </a:r>
            <a:r>
              <a:rPr lang="ru-RU" dirty="0"/>
              <a:t>— это цифровой помощник, автоматизирующий рутинные и интеллектуальные задачи в бизнесе, производстве и сервисе.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В </a:t>
            </a:r>
            <a:r>
              <a:rPr lang="ru-RU" dirty="0"/>
              <a:t>отличие от классических промышленных роботов, </a:t>
            </a:r>
            <a:r>
              <a:rPr lang="ru-RU" dirty="0" err="1"/>
              <a:t>промоботы</a:t>
            </a:r>
            <a:r>
              <a:rPr lang="ru-RU" dirty="0"/>
              <a:t> могут работать не только с физическими объектами, но и с данными, коммуникациями и процессами</a:t>
            </a:r>
            <a:r>
              <a:rPr lang="ru-RU" dirty="0" smtClean="0"/>
              <a:t>.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086723"/>
            <a:ext cx="3168352" cy="253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33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63571" y="46679"/>
            <a:ext cx="814393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b="1" dirty="0"/>
              <a:t>Отличия от промышленных роботов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C61DC-231B-5DEC-4E83-278336F3824E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B90E4-A95E-43E6-895C-A9A0F1273EED}"/>
              </a:ext>
            </a:extLst>
          </p:cNvPr>
          <p:cNvSpPr txBox="1"/>
          <p:nvPr/>
        </p:nvSpPr>
        <p:spPr>
          <a:xfrm>
            <a:off x="627552" y="1203598"/>
            <a:ext cx="3600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/>
              <a:t>Разная </a:t>
            </a:r>
            <a:r>
              <a:rPr lang="ru-RU" dirty="0"/>
              <a:t>природа и </a:t>
            </a:r>
            <a:r>
              <a:rPr lang="ru-RU" dirty="0" smtClean="0"/>
              <a:t>назначение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/>
              <a:t>Степень автономности и </a:t>
            </a:r>
            <a:r>
              <a:rPr lang="ru-RU" dirty="0" smtClean="0"/>
              <a:t>адаптивности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/>
              <a:t>Взаимодействие с </a:t>
            </a:r>
            <a:r>
              <a:rPr lang="ru-RU" dirty="0" smtClean="0"/>
              <a:t>человеком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/>
              <a:t>Сфера </a:t>
            </a:r>
            <a:r>
              <a:rPr lang="ru-RU" dirty="0" smtClean="0"/>
              <a:t>применения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/>
              <a:t>Экономическая </a:t>
            </a:r>
            <a:r>
              <a:rPr lang="ru-RU" dirty="0" smtClean="0"/>
              <a:t>модель	</a:t>
            </a:r>
            <a:endParaRPr lang="ru-RU" dirty="0"/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952" y="974253"/>
            <a:ext cx="4279551" cy="285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62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1327" y="123478"/>
            <a:ext cx="9217024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b="1" dirty="0"/>
              <a:t>История создания </a:t>
            </a:r>
            <a:r>
              <a:rPr lang="ru-RU" b="1" dirty="0" err="1"/>
              <a:t>промоботов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FAA24E-0BD5-4A6B-62C8-1AD975CA2BD0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E16C2-140B-4C98-BEE5-24F52AC4C191}"/>
              </a:ext>
            </a:extLst>
          </p:cNvPr>
          <p:cNvSpPr txBox="1"/>
          <p:nvPr/>
        </p:nvSpPr>
        <p:spPr>
          <a:xfrm>
            <a:off x="395536" y="1033710"/>
            <a:ext cx="46196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/>
              <a:t>Концепция </a:t>
            </a:r>
            <a:r>
              <a:rPr lang="ru-RU" dirty="0" err="1"/>
              <a:t>промоботов</a:t>
            </a:r>
            <a:r>
              <a:rPr lang="ru-RU" dirty="0"/>
              <a:t> зародилась в </a:t>
            </a:r>
            <a:r>
              <a:rPr lang="ru-RU" b="1" dirty="0"/>
              <a:t>Перми</a:t>
            </a:r>
            <a:r>
              <a:rPr lang="ru-RU" dirty="0"/>
              <a:t> как инновационный проект на стыке цифровых технологий и практического бизнес-применения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smtClean="0"/>
              <a:t>Первые </a:t>
            </a:r>
            <a:r>
              <a:rPr lang="ru-RU" dirty="0" err="1"/>
              <a:t>промоботы</a:t>
            </a:r>
            <a:r>
              <a:rPr lang="ru-RU" dirty="0"/>
              <a:t> появились в сфере услуг и </a:t>
            </a:r>
            <a:r>
              <a:rPr lang="ru-RU" dirty="0" smtClean="0"/>
              <a:t>торговли.</a:t>
            </a:r>
            <a:r>
              <a:rPr lang="ru-RU" dirty="0"/>
              <a:t> </a:t>
            </a:r>
            <a:r>
              <a:rPr lang="ru-RU" dirty="0" smtClean="0"/>
              <a:t>Особенностью </a:t>
            </a:r>
            <a:r>
              <a:rPr lang="ru-RU" dirty="0"/>
              <a:t>пермских </a:t>
            </a:r>
            <a:r>
              <a:rPr lang="ru-RU" dirty="0" err="1"/>
              <a:t>промоботов</a:t>
            </a:r>
            <a:r>
              <a:rPr lang="ru-RU" dirty="0"/>
              <a:t> стал акцент на "дружелюбный" интерфейс.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51" y="1033710"/>
            <a:ext cx="3597127" cy="261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0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096535-161C-1476-E7BE-BF2B94819E9D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083D5-20C2-D0BC-90FA-92E03282FBA0}"/>
              </a:ext>
            </a:extLst>
          </p:cNvPr>
          <p:cNvSpPr txBox="1"/>
          <p:nvPr/>
        </p:nvSpPr>
        <p:spPr>
          <a:xfrm>
            <a:off x="611560" y="50435"/>
            <a:ext cx="814393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b="1" dirty="0"/>
              <a:t>Виды </a:t>
            </a:r>
            <a:r>
              <a:rPr lang="ru-RU" b="1" dirty="0" err="1"/>
              <a:t>промоботов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95B69C-2997-4DA8-847C-1EE8B8B952B5}"/>
              </a:ext>
            </a:extLst>
          </p:cNvPr>
          <p:cNvSpPr txBox="1"/>
          <p:nvPr/>
        </p:nvSpPr>
        <p:spPr>
          <a:xfrm>
            <a:off x="323528" y="1131590"/>
            <a:ext cx="39852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Начальная версия </a:t>
            </a:r>
            <a:r>
              <a:rPr lang="ru-RU" dirty="0" err="1"/>
              <a:t>промоботов</a:t>
            </a:r>
            <a:r>
              <a:rPr lang="ru-RU" dirty="0"/>
              <a:t> появилась в 2012 годах и представляла собой базовые информационные киоски с ограниченным набором функций</a:t>
            </a:r>
            <a:r>
              <a:rPr lang="ru-RU" dirty="0" smtClean="0"/>
              <a:t>.</a:t>
            </a:r>
            <a:r>
              <a:rPr lang="ru-RU" dirty="0"/>
              <a:t> </a:t>
            </a:r>
          </a:p>
          <a:p>
            <a:endParaRPr lang="ru-RU" dirty="0" smtClean="0"/>
          </a:p>
          <a:p>
            <a:r>
              <a:rPr lang="ru-RU" b="1" dirty="0" smtClean="0"/>
              <a:t>Второе </a:t>
            </a:r>
            <a:r>
              <a:rPr lang="ru-RU" b="1" dirty="0"/>
              <a:t>поколение</a:t>
            </a:r>
            <a:r>
              <a:rPr lang="ru-RU" dirty="0"/>
              <a:t> </a:t>
            </a:r>
            <a:r>
              <a:rPr lang="ru-RU" dirty="0" err="1"/>
              <a:t>промоботов</a:t>
            </a:r>
            <a:r>
              <a:rPr lang="ru-RU" dirty="0"/>
              <a:t> (2015-2017 гг.) уже обладало элементами адаптивности. </a:t>
            </a:r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643758"/>
            <a:ext cx="3052246" cy="171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771550"/>
            <a:ext cx="3052246" cy="171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1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63570" y="123478"/>
            <a:ext cx="860091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Виды промышленных роботов</a:t>
            </a:r>
          </a:p>
          <a:p>
            <a:pPr algn="ctr"/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3CBFB-5215-98F1-0979-EC0B19B0A9E2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78E7D-002B-431F-BB16-06E66E6DA8B9}"/>
              </a:ext>
            </a:extLst>
          </p:cNvPr>
          <p:cNvSpPr txBox="1"/>
          <p:nvPr/>
        </p:nvSpPr>
        <p:spPr>
          <a:xfrm>
            <a:off x="323528" y="615674"/>
            <a:ext cx="42084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Современные </a:t>
            </a:r>
            <a:r>
              <a:rPr lang="ru-RU" dirty="0" err="1"/>
              <a:t>промоботы</a:t>
            </a:r>
            <a:r>
              <a:rPr lang="ru-RU" dirty="0"/>
              <a:t> </a:t>
            </a:r>
            <a:r>
              <a:rPr lang="ru-RU" b="1" dirty="0"/>
              <a:t>третьего поколения </a:t>
            </a:r>
            <a:r>
              <a:rPr lang="ru-RU" dirty="0"/>
              <a:t>(2018-2022 гг.) представляют собой сложные интегрированные системы. Они объединяют технологии компьютерного зрения, обработки естественного языка и предиктивной аналитики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Сегодня </a:t>
            </a:r>
            <a:r>
              <a:rPr lang="ru-RU" dirty="0"/>
              <a:t>разработчики работают над созданием </a:t>
            </a:r>
            <a:r>
              <a:rPr lang="ru-RU" dirty="0" err="1"/>
              <a:t>промоботов</a:t>
            </a:r>
            <a:r>
              <a:rPr lang="ru-RU" dirty="0"/>
              <a:t> нового, </a:t>
            </a:r>
            <a:r>
              <a:rPr lang="ru-RU" b="1" dirty="0"/>
              <a:t>четвертого поколения</a:t>
            </a:r>
            <a:r>
              <a:rPr lang="ru-RU" dirty="0"/>
              <a:t>, которые будут представлять собой полноценные автономные системы.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781" y="712194"/>
            <a:ext cx="2738884" cy="184303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781" y="2715766"/>
            <a:ext cx="2738884" cy="181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46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41953-FEF2-C547-9913-BE7B32419ED0}"/>
              </a:ext>
            </a:extLst>
          </p:cNvPr>
          <p:cNvSpPr txBox="1"/>
          <p:nvPr/>
        </p:nvSpPr>
        <p:spPr>
          <a:xfrm>
            <a:off x="500034" y="123478"/>
            <a:ext cx="8143932" cy="15696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Сферы </a:t>
            </a:r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применения</a:t>
            </a:r>
            <a:endParaRPr lang="ru-RU" sz="2400" b="1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ru-RU" sz="2400" b="1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ru-RU" sz="2400" b="1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B7369-B9E5-48D5-9640-7C0D064732BE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 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6" name="Рисунок 15" descr="img-case-robo-c-9-consultant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639" y="1131590"/>
            <a:ext cx="1584176" cy="14972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Рисунок 16" descr="case-promoter-00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1" y="1131590"/>
            <a:ext cx="1656184" cy="14972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Рисунок 17" descr="img-case-robo-c-10-building-manager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36" y="1131590"/>
            <a:ext cx="1656184" cy="14972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Рисунок 18" descr="https://promo-bot.ru/wp-content/uploads/2019/12/bg-img-cases-4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280" y="3051047"/>
            <a:ext cx="1584176" cy="14920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Рисунок 19" descr="img-case-robo-c-11-manager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52" y="3051047"/>
            <a:ext cx="1710960" cy="15432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Рисунок 20" descr="bg-img-cases-7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808" y="3062528"/>
            <a:ext cx="1700404" cy="15054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Прямоугольник 5"/>
          <p:cNvSpPr/>
          <p:nvPr/>
        </p:nvSpPr>
        <p:spPr>
          <a:xfrm>
            <a:off x="823235" y="790774"/>
            <a:ext cx="1981055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15000"/>
              </a:lnSpc>
              <a:spcAft>
                <a:spcPts val="10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Консультант</a:t>
            </a:r>
            <a:endParaRPr lang="ru-RU" dirty="0">
              <a:effectLst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042207" y="794122"/>
            <a:ext cx="1324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Промоутер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355395" y="752572"/>
            <a:ext cx="1671996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15000"/>
              </a:lnSpc>
              <a:spcAft>
                <a:spcPts val="10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Консьерж</a:t>
            </a:r>
            <a:endParaRPr lang="ru-RU" dirty="0">
              <a:effectLst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19655" y="2641055"/>
            <a:ext cx="1968168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15000"/>
              </a:lnSpc>
              <a:spcAft>
                <a:spcPts val="1000"/>
              </a:spcAft>
            </a:pPr>
            <a:r>
              <a:rPr lang="ru-RU" b="1" dirty="0">
                <a:solidFill>
                  <a:srgbClr val="222025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Экскурсовод</a:t>
            </a:r>
            <a:endParaRPr lang="ru-RU" dirty="0">
              <a:effectLst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86697" y="2641055"/>
            <a:ext cx="2297680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15000"/>
              </a:lnSpc>
              <a:spcAft>
                <a:spcPts val="1000"/>
              </a:spcAft>
            </a:pPr>
            <a:r>
              <a:rPr lang="ru-RU" b="1" dirty="0">
                <a:solidFill>
                  <a:srgbClr val="222025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Администратор</a:t>
            </a:r>
            <a:endParaRPr lang="ru-RU" dirty="0">
              <a:effectLst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404832" y="2640165"/>
            <a:ext cx="1622559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15000"/>
              </a:lnSpc>
              <a:spcAft>
                <a:spcPts val="1000"/>
              </a:spcAft>
            </a:pPr>
            <a:r>
              <a:rPr lang="ru-RU" b="1" dirty="0">
                <a:solidFill>
                  <a:srgbClr val="222025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Диагност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5216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9051BC-9433-436C-A871-0C42032813F8}"/>
              </a:ext>
            </a:extLst>
          </p:cNvPr>
          <p:cNvSpPr txBox="1"/>
          <p:nvPr/>
        </p:nvSpPr>
        <p:spPr>
          <a:xfrm>
            <a:off x="323528" y="123478"/>
            <a:ext cx="8143932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2400" b="1" dirty="0" err="1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Promobot</a:t>
            </a:r>
            <a:r>
              <a:rPr lang="en-US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V.4 </a:t>
            </a:r>
            <a:r>
              <a:rPr lang="ru-RU" sz="24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помогает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F599E-F715-431B-BBBB-2893F925D9B3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977872" y="3589767"/>
            <a:ext cx="18815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Автоматизировать бизнес-процессы</a:t>
            </a:r>
            <a:endParaRPr lang="ru-RU" sz="15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4" name="Рисунок 170" descr="https://promo-bot.ru/wp-content/uploads/2020/01/icon-65-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48" y="1602529"/>
            <a:ext cx="438972" cy="43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Рисунок 171" descr="https://promo-bot.ru/wp-content/uploads/2020/01/icon-65-005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42" y="2636054"/>
            <a:ext cx="424551" cy="42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Рисунок 172" descr="https://promo-bot.ru/wp-content/uploads/2020/01/icon-65-004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65" y="3657212"/>
            <a:ext cx="438755" cy="43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115616" y="968050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22202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725344" y="967749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22202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CLIENTS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6635880" y="3598130"/>
            <a:ext cx="20839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Привлекать </a:t>
            </a:r>
            <a:r>
              <a:rPr lang="ru-RU" sz="1500" dirty="0"/>
              <a:t>новых </a:t>
            </a:r>
            <a:r>
              <a:rPr lang="ru-RU" sz="1500" dirty="0" smtClean="0"/>
              <a:t>клиентов</a:t>
            </a:r>
            <a:endParaRPr lang="ru-RU" sz="15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 descr="https://promo-bot.ru/wp-content/uploads/2020/01/icon-65-007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065" y="1605388"/>
            <a:ext cx="382144" cy="38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 descr="https://promo-bot.ru/wp-content/uploads/2020/01/icon-65-003.pn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34" y="2632429"/>
            <a:ext cx="401575" cy="40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 descr="https://promo-bot.ru/wp-content/uploads/2020/01/icon-65-008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128" y="3667351"/>
            <a:ext cx="408052" cy="4155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/>
          <p:cNvSpPr/>
          <p:nvPr/>
        </p:nvSpPr>
        <p:spPr>
          <a:xfrm>
            <a:off x="3642021" y="958572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22202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IMPRESSION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3625662" y="3483954"/>
            <a:ext cx="214876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Создать </a:t>
            </a:r>
            <a:r>
              <a:rPr lang="ru-RU" sz="1500" dirty="0"/>
              <a:t>имидж высокотехнологичной компании</a:t>
            </a:r>
            <a:endParaRPr lang="ru-RU" sz="15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Рисунок 21" descr="https://promo-bot.ru/wp-content/uploads/2020/01/icon-65-009.png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59" y="1599146"/>
            <a:ext cx="434291" cy="43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Рисунок 22" descr="https://promo-bot.ru/wp-content/uploads/2020/01/icon-65-002.png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59" y="2624105"/>
            <a:ext cx="434291" cy="43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Рисунок 23" descr="https://promo-bot.ru/wp-content/uploads/2020/01/icon-65-010.png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59" y="3660565"/>
            <a:ext cx="434291" cy="43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1009009" y="2450640"/>
            <a:ext cx="17742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Освободить сотрудников от рутинной работы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992861" y="1542346"/>
            <a:ext cx="17534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Экономить </a:t>
            </a:r>
            <a:r>
              <a:rPr lang="ru-RU" sz="1500" dirty="0"/>
              <a:t>на </a:t>
            </a:r>
            <a:r>
              <a:rPr lang="ru-RU" sz="1500" dirty="0" smtClean="0"/>
              <a:t>зарплатах</a:t>
            </a:r>
            <a:endParaRPr lang="ru-R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3642021" y="2571330"/>
            <a:ext cx="1938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Выделяться </a:t>
            </a:r>
            <a:r>
              <a:rPr lang="ru-RU" sz="1500" dirty="0"/>
              <a:t>среди </a:t>
            </a:r>
            <a:r>
              <a:rPr lang="ru-RU" sz="1500" dirty="0" smtClean="0"/>
              <a:t>конкурентов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3679291" y="1556827"/>
            <a:ext cx="1900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Привлекать </a:t>
            </a:r>
            <a:r>
              <a:rPr lang="ru-RU" sz="1500" dirty="0"/>
              <a:t>внимание </a:t>
            </a:r>
            <a:r>
              <a:rPr lang="ru-RU" sz="1500" dirty="0" smtClean="0"/>
              <a:t>медиа</a:t>
            </a:r>
            <a:endParaRPr lang="ru-RU" sz="15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6675329" y="2455914"/>
            <a:ext cx="20839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Повышать </a:t>
            </a:r>
            <a:r>
              <a:rPr lang="ru-RU" sz="1500" dirty="0"/>
              <a:t>настроение и лояльность </a:t>
            </a:r>
            <a:r>
              <a:rPr lang="ru-RU" sz="1500" dirty="0" smtClean="0"/>
              <a:t>клиентов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357616-196D-4406-8486-8AB77214D87B}"/>
              </a:ext>
            </a:extLst>
          </p:cNvPr>
          <p:cNvSpPr txBox="1"/>
          <p:nvPr/>
        </p:nvSpPr>
        <p:spPr>
          <a:xfrm>
            <a:off x="6693810" y="1546515"/>
            <a:ext cx="20839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1590" fontAlgn="base">
              <a:spcAft>
                <a:spcPts val="0"/>
              </a:spcAft>
            </a:pPr>
            <a:r>
              <a:rPr lang="ru-RU" sz="1500" dirty="0" smtClean="0"/>
              <a:t>Быстрее обслуживать</a:t>
            </a:r>
            <a:endParaRPr lang="ru-RU" sz="15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1" name="Рисунок 170" descr="https://promo-bot.ru/wp-content/uploads/2020/01/icon-65-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Рисунок 171" descr="https://promo-bot.ru/wp-content/uploads/2020/01/icon-65-005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7038" cy="42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Рисунок 172" descr="https://promo-bot.ru/wp-content/uploads/2020/01/icon-65-004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1325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00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63570" y="123478"/>
            <a:ext cx="814393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ru-RU" b="1" dirty="0"/>
              <a:t>Этапы создания</a:t>
            </a:r>
            <a:endParaRPr lang="ru-RU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3CBFB-5215-98F1-0979-EC0B19B0A9E2}"/>
              </a:ext>
            </a:extLst>
          </p:cNvPr>
          <p:cNvSpPr txBox="1"/>
          <p:nvPr/>
        </p:nvSpPr>
        <p:spPr>
          <a:xfrm>
            <a:off x="3965697" y="474709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 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</a:t>
            </a:r>
            <a:r>
              <a:rPr lang="ru-RU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C1BBE9-1CEE-4EB6-80FC-833995AAA30A}"/>
              </a:ext>
            </a:extLst>
          </p:cNvPr>
          <p:cNvSpPr txBox="1"/>
          <p:nvPr/>
        </p:nvSpPr>
        <p:spPr>
          <a:xfrm>
            <a:off x="363570" y="998582"/>
            <a:ext cx="3888432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b="1" dirty="0" smtClean="0"/>
              <a:t>Каркас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b="1" dirty="0" smtClean="0"/>
              <a:t>Электроника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b="1" dirty="0" smtClean="0"/>
              <a:t>Корпус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b="1" dirty="0"/>
              <a:t>Программное </a:t>
            </a:r>
            <a:r>
              <a:rPr lang="ru-RU" b="1" dirty="0" smtClean="0"/>
              <a:t>обеспечение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b="1" dirty="0"/>
              <a:t>Тесты</a:t>
            </a:r>
            <a:r>
              <a:rPr lang="ru-RU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36" y="1059582"/>
            <a:ext cx="3931422" cy="261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5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0F68-21AD-9854-DBBC-E5B96740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FD4F19-5515-8706-6E09-B32D1B31CDA3}"/>
              </a:ext>
            </a:extLst>
          </p:cNvPr>
          <p:cNvSpPr/>
          <p:nvPr/>
        </p:nvSpPr>
        <p:spPr>
          <a:xfrm>
            <a:off x="0" y="4659982"/>
            <a:ext cx="9144000" cy="483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4890AAF-1E01-6C26-FF12-BABDB18DCE65}"/>
              </a:ext>
            </a:extLst>
          </p:cNvPr>
          <p:cNvSpPr/>
          <p:nvPr/>
        </p:nvSpPr>
        <p:spPr>
          <a:xfrm>
            <a:off x="5143504" y="0"/>
            <a:ext cx="4000496" cy="214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97664BC-D5C3-44EB-94B1-447D235E3DC2}"/>
              </a:ext>
            </a:extLst>
          </p:cNvPr>
          <p:cNvSpPr/>
          <p:nvPr/>
        </p:nvSpPr>
        <p:spPr>
          <a:xfrm>
            <a:off x="5143504" y="4714890"/>
            <a:ext cx="4000496" cy="428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C727CE-5DFB-DFF7-B862-CDFC98651CCE}"/>
              </a:ext>
            </a:extLst>
          </p:cNvPr>
          <p:cNvSpPr/>
          <p:nvPr/>
        </p:nvSpPr>
        <p:spPr>
          <a:xfrm flipH="1">
            <a:off x="0" y="0"/>
            <a:ext cx="9144000" cy="5143500"/>
          </a:xfrm>
          <a:prstGeom prst="rect">
            <a:avLst/>
          </a:prstGeom>
          <a:solidFill>
            <a:srgbClr val="781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7CB3CFD-A7FD-59CC-2D41-09AE7AAC6C90}"/>
              </a:ext>
            </a:extLst>
          </p:cNvPr>
          <p:cNvSpPr txBox="1">
            <a:spLocks/>
          </p:cNvSpPr>
          <p:nvPr/>
        </p:nvSpPr>
        <p:spPr>
          <a:xfrm>
            <a:off x="1331640" y="2139702"/>
            <a:ext cx="6624736" cy="4714908"/>
          </a:xfrm>
          <a:prstGeom prst="rect">
            <a:avLst/>
          </a:prstGeom>
        </p:spPr>
        <p:txBody>
          <a:bodyPr vert="horz" lIns="0" tIns="0" rIns="0" bIns="0" rtlCol="0" anchor="t">
            <a:normAutofit fontScale="975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048000" algn="l"/>
              </a:tabLst>
              <a:defRPr/>
            </a:pPr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ea typeface="Stem Text Bold" pitchFamily="34" charset="-52"/>
                <a:cs typeface="Arial" panose="020B0604020202020204" pitchFamily="34" charset="0"/>
              </a:rPr>
              <a:t>Спасибо за внимание !</a:t>
            </a:r>
          </a:p>
        </p:txBody>
      </p:sp>
    </p:spTree>
    <p:extLst>
      <p:ext uri="{BB962C8B-B14F-4D97-AF65-F5344CB8AC3E}">
        <p14:creationId xmlns:p14="http://schemas.microsoft.com/office/powerpoint/2010/main" val="11514094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НГТУ НЭТИ Stem">
      <a:majorFont>
        <a:latin typeface="Stem Text Bold"/>
        <a:ea typeface=""/>
        <a:cs typeface=""/>
      </a:majorFont>
      <a:minorFont>
        <a:latin typeface="Stem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3491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2183</TotalTime>
  <Words>285</Words>
  <Application>Microsoft Office PowerPoint</Application>
  <PresentationFormat>Экран (16:9)</PresentationFormat>
  <Paragraphs>65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Stem Text Bold</vt:lpstr>
      <vt:lpstr>Arial</vt:lpstr>
      <vt:lpstr>Stem Text</vt:lpstr>
      <vt:lpstr>Roboto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НГТУ НЭТИ 16:9</dc:title>
  <dc:creator>Валентин Кривица</dc:creator>
  <cp:lastModifiedBy>Саныч Сан</cp:lastModifiedBy>
  <cp:revision>211</cp:revision>
  <dcterms:created xsi:type="dcterms:W3CDTF">2019-05-10T11:12:43Z</dcterms:created>
  <dcterms:modified xsi:type="dcterms:W3CDTF">2025-06-02T05:38:50Z</dcterms:modified>
</cp:coreProperties>
</file>